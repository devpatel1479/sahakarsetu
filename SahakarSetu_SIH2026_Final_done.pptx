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3" autoAdjust="0"/>
  </p:normalViewPr>
  <p:slideViewPr>
    <p:cSldViewPr snapToGrid="0" snapToObjects="1">
      <p:cViewPr varScale="1">
        <p:scale>
          <a:sx n="76" d="100"/>
          <a:sy n="76" d="100"/>
        </p:scale>
        <p:origin x="272" y="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SGfuTJ5SxBE" TargetMode="External"/><Relationship Id="rId4" Type="http://schemas.openxmlformats.org/officeDocument/2006/relationships/hyperlink" Target="https://sahakar-setu-sage.vercel.app/log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DevPatel1479/SahakarSetu.git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s.gov.in" TargetMode="External"/><Relationship Id="rId13" Type="http://schemas.openxmlformats.org/officeDocument/2006/relationships/hyperlink" Target="https://moodle.com/products/lms/" TargetMode="External"/><Relationship Id="rId18" Type="http://schemas.openxmlformats.org/officeDocument/2006/relationships/image" Target="../media/image8.png"/><Relationship Id="rId3" Type="http://schemas.openxmlformats.org/officeDocument/2006/relationships/image" Target="../media/image2.png"/><Relationship Id="rId21" Type="http://schemas.openxmlformats.org/officeDocument/2006/relationships/hyperlink" Target="https://sahakar-setu-sage.vercel.app/login" TargetMode="External"/><Relationship Id="rId7" Type="http://schemas.openxmlformats.org/officeDocument/2006/relationships/hyperlink" Target="https://cooperatives.gov.in/" TargetMode="External"/><Relationship Id="rId12" Type="http://schemas.openxmlformats.org/officeDocument/2006/relationships/hyperlink" Target="https://xgboost.readthedocs.io" TargetMode="External"/><Relationship Id="rId17" Type="http://schemas.openxmlformats.org/officeDocument/2006/relationships/hyperlink" Target="https://www.meity.gov.in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github.com/deepinsight/insightface" TargetMode="Externa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b.gov.in" TargetMode="External"/><Relationship Id="rId11" Type="http://schemas.openxmlformats.org/officeDocument/2006/relationships/hyperlink" Target="https://www.onetcenter.org/database.html" TargetMode="External"/><Relationship Id="rId5" Type="http://schemas.openxmlformats.org/officeDocument/2006/relationships/hyperlink" Target="https://cooperation.gov.in" TargetMode="External"/><Relationship Id="rId15" Type="http://schemas.openxmlformats.org/officeDocument/2006/relationships/hyperlink" Target="https://bhashini.gov.in" TargetMode="External"/><Relationship Id="rId10" Type="http://schemas.openxmlformats.org/officeDocument/2006/relationships/hyperlink" Target="https://esco.ec.europa.eu/en/use-esco/download" TargetMode="External"/><Relationship Id="rId19" Type="http://schemas.openxmlformats.org/officeDocument/2006/relationships/image" Target="../media/image9.png"/><Relationship Id="rId4" Type="http://schemas.openxmlformats.org/officeDocument/2006/relationships/hyperlink" Target="https://www.cooperation.gov.in/en/ncct" TargetMode="External"/><Relationship Id="rId9" Type="http://schemas.openxmlformats.org/officeDocument/2006/relationships/hyperlink" Target="https://huggingface.co/datasets/jimyones/role-radar-dataset" TargetMode="External"/><Relationship Id="rId14" Type="http://schemas.openxmlformats.org/officeDocument/2006/relationships/hyperlink" Target="https://moodle.org" TargetMode="External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01132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103747"/>
            <a:ext cx="9326880" cy="82296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INDIA HACKATHON </a:t>
            </a:r>
            <a:r>
              <a:rPr lang="en-US" sz="3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IN" sz="3600" b="1" dirty="0">
              <a:solidFill>
                <a:schemeClr val="tx2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2064" y="1305334"/>
            <a:ext cx="7564856" cy="4703019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Problem Statement ID – </a:t>
            </a:r>
            <a:r>
              <a:rPr sz="2400" b="0" dirty="0" smtClean="0">
                <a:solidFill>
                  <a:srgbClr val="0070C0"/>
                </a:solidFill>
                <a:latin typeface="Arial"/>
              </a:rPr>
              <a:t>26087</a:t>
            </a:r>
            <a:endParaRPr sz="2400" b="0" dirty="0">
              <a:solidFill>
                <a:srgbClr val="0070C0"/>
              </a:solidFill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Problem Statement Title- </a:t>
            </a:r>
            <a:r>
              <a:rPr sz="2400" b="0" dirty="0">
                <a:solidFill>
                  <a:srgbClr val="0070C0"/>
                </a:solidFill>
                <a:latin typeface="Arial"/>
              </a:rPr>
              <a:t>AI &amp; LMS-Enabled Cooperative Capacity Building, ERP &amp; Employment Ecosystem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Theme- </a:t>
            </a:r>
            <a:r>
              <a:rPr sz="2400" b="0" dirty="0">
                <a:solidFill>
                  <a:srgbClr val="0070C0"/>
                </a:solidFill>
                <a:latin typeface="Arial"/>
              </a:rPr>
              <a:t>Smart Education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PS Category- </a:t>
            </a:r>
            <a:r>
              <a:rPr sz="2400" b="0" dirty="0">
                <a:solidFill>
                  <a:srgbClr val="0070C0"/>
                </a:solidFill>
                <a:latin typeface="Arial"/>
              </a:rPr>
              <a:t>Hardware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Team ID- </a:t>
            </a:r>
            <a:r>
              <a:rPr sz="2400" b="0" dirty="0">
                <a:solidFill>
                  <a:srgbClr val="C0392B"/>
                </a:solidFill>
                <a:latin typeface="Arial"/>
              </a:rPr>
              <a:t>[Enter your Team ID]</a:t>
            </a: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2400" b="1" dirty="0">
                <a:solidFill>
                  <a:srgbClr val="0B2545"/>
                </a:solidFill>
                <a:latin typeface="Arial"/>
              </a:rPr>
              <a:t>Team Name (Registered on portal</a:t>
            </a:r>
            <a:r>
              <a:rPr sz="2400" b="1" dirty="0" smtClean="0">
                <a:solidFill>
                  <a:srgbClr val="0B2545"/>
                </a:solidFill>
                <a:latin typeface="Arial"/>
              </a:rPr>
              <a:t>)-</a:t>
            </a:r>
            <a:r>
              <a:rPr lang="en-US" sz="2400" b="1" dirty="0" smtClean="0">
                <a:solidFill>
                  <a:srgbClr val="0B2545"/>
                </a:solidFill>
                <a:latin typeface="Arial"/>
              </a:rPr>
              <a:t> </a:t>
            </a:r>
            <a:r>
              <a:rPr lang="en-IN" sz="2400" dirty="0" smtClean="0">
                <a:solidFill>
                  <a:srgbClr val="0070C0"/>
                </a:solidFill>
                <a:latin typeface="Arial"/>
              </a:rPr>
              <a:t>Code2Scale</a:t>
            </a:r>
            <a:endParaRPr lang="en-IN" sz="2400" dirty="0">
              <a:solidFill>
                <a:srgbClr val="0070C0"/>
              </a:solidFill>
              <a:latin typeface="Arial"/>
            </a:endParaRPr>
          </a:p>
          <a:p>
            <a:pPr marL="285750" indent="-28575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endParaRPr sz="2400" b="0" dirty="0">
              <a:solidFill>
                <a:srgbClr val="C0392B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31720" y="1500"/>
            <a:ext cx="7358000" cy="6000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IDEA 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SAHAKARSETU</a:t>
            </a:r>
            <a:endParaRPr lang="en-US" sz="3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2" name="Rounded Rectangle 15361"/>
          <p:cNvSpPr/>
          <p:nvPr/>
        </p:nvSpPr>
        <p:spPr>
          <a:xfrm>
            <a:off x="365760" y="1188720"/>
            <a:ext cx="4206240" cy="310896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Proposed </a:t>
            </a:r>
            <a:r>
              <a:rPr sz="1200" b="1" i="0" dirty="0" smtClean="0">
                <a:solidFill>
                  <a:srgbClr val="FFFFFF"/>
                </a:solidFill>
                <a:latin typeface="Arial"/>
              </a:rPr>
              <a:t>Solution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3" name="Oval 15362"/>
          <p:cNvSpPr/>
          <p:nvPr/>
        </p:nvSpPr>
        <p:spPr>
          <a:xfrm>
            <a:off x="1737360" y="3108960"/>
            <a:ext cx="1463040" cy="10058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SAHAKAR ID</a:t>
            </a:r>
          </a:p>
          <a:p>
            <a:pPr algn="ctr"/>
            <a:r>
              <a:rPr lang="en-US" sz="1000" dirty="0">
                <a:solidFill>
                  <a:srgbClr val="CADCFC"/>
                </a:solidFill>
                <a:latin typeface="Arial"/>
              </a:rPr>
              <a:t>U</a:t>
            </a:r>
            <a:r>
              <a:rPr lang="en-US" sz="1000" dirty="0" smtClean="0">
                <a:solidFill>
                  <a:srgbClr val="CADCFC"/>
                </a:solidFill>
                <a:latin typeface="Arial"/>
              </a:rPr>
              <a:t>nified</a:t>
            </a:r>
            <a:r>
              <a:rPr sz="1000" b="0" i="0" dirty="0" smtClean="0">
                <a:solidFill>
                  <a:srgbClr val="CADCFC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CADCFC"/>
                </a:solidFill>
                <a:latin typeface="Arial"/>
              </a:rPr>
              <a:t>trainee profile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1737360" y="1828800"/>
            <a:ext cx="1371600" cy="68580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ERP</a:t>
            </a:r>
          </a:p>
          <a:p>
            <a:pPr algn="ctr"/>
            <a:r>
              <a:rPr sz="1000" b="0" i="0" dirty="0">
                <a:solidFill>
                  <a:srgbClr val="FFFFFF"/>
                </a:solidFill>
                <a:latin typeface="Arial"/>
              </a:rPr>
              <a:t>Nominate • Attend • Hostel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337560" y="2743200"/>
            <a:ext cx="1371600" cy="685800"/>
          </a:xfrm>
          <a:prstGeom prst="roundRect">
            <a:avLst>
              <a:gd name="adj" fmla="val 20000"/>
            </a:avLst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LMS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Learn • Test • Offline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372782" y="3992044"/>
            <a:ext cx="1371600" cy="685800"/>
          </a:xfrm>
          <a:prstGeom prst="roundRect">
            <a:avLst>
              <a:gd name="adj" fmla="val 20000"/>
            </a:avLst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CERTIFY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QR Skill Passport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444752" y="4732020"/>
            <a:ext cx="1981200" cy="6858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EMPLOY</a:t>
            </a:r>
          </a:p>
          <a:p>
            <a:pPr algn="ctr"/>
            <a:r>
              <a:rPr lang="en-IN" sz="1000" dirty="0" smtClean="0">
                <a:solidFill>
                  <a:srgbClr val="FFFFFF"/>
                </a:solidFill>
                <a:latin typeface="Arial"/>
              </a:rPr>
              <a:t>Employment</a:t>
            </a:r>
            <a:r>
              <a:rPr sz="10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• </a:t>
            </a:r>
            <a:r>
              <a:rPr lang="en-IN" sz="1000" dirty="0"/>
              <a:t>Entrepreneurship</a:t>
            </a:r>
            <a:r>
              <a:rPr sz="10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• Track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182880" y="3429000"/>
            <a:ext cx="1188720" cy="685800"/>
          </a:xfrm>
          <a:prstGeom prst="roundRect">
            <a:avLst>
              <a:gd name="adj" fmla="val 20000"/>
            </a:avLst>
          </a:prstGeom>
          <a:solidFill>
            <a:srgbClr val="00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AI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Chatbot • Analytics</a:t>
            </a:r>
          </a:p>
        </p:txBody>
      </p:sp>
      <p:cxnSp>
        <p:nvCxnSpPr>
          <p:cNvPr id="15369" name="Connector 15368"/>
          <p:cNvCxnSpPr/>
          <p:nvPr/>
        </p:nvCxnSpPr>
        <p:spPr>
          <a:xfrm flipV="1">
            <a:off x="2468880" y="2514600"/>
            <a:ext cx="0" cy="59436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0" name="Connector 15369"/>
          <p:cNvCxnSpPr/>
          <p:nvPr/>
        </p:nvCxnSpPr>
        <p:spPr>
          <a:xfrm flipV="1">
            <a:off x="3154680" y="3154680"/>
            <a:ext cx="210312" cy="27432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1" name="Connector 15370"/>
          <p:cNvCxnSpPr/>
          <p:nvPr/>
        </p:nvCxnSpPr>
        <p:spPr>
          <a:xfrm>
            <a:off x="3154680" y="3794760"/>
            <a:ext cx="210312" cy="36576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2" name="Connector 15371"/>
          <p:cNvCxnSpPr/>
          <p:nvPr/>
        </p:nvCxnSpPr>
        <p:spPr>
          <a:xfrm>
            <a:off x="2468880" y="4114800"/>
            <a:ext cx="0" cy="59436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3" name="Connector 15372"/>
          <p:cNvCxnSpPr/>
          <p:nvPr/>
        </p:nvCxnSpPr>
        <p:spPr>
          <a:xfrm flipH="1">
            <a:off x="1371600" y="3611880"/>
            <a:ext cx="384048" cy="0"/>
          </a:xfrm>
          <a:prstGeom prst="line">
            <a:avLst/>
          </a:prstGeom>
          <a:ln w="19050">
            <a:solidFill>
              <a:srgbClr val="0B254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365760" y="5532120"/>
            <a:ext cx="4206240" cy="64008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on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Central Cloud ERP + Moodle, with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Sahakar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Edge Boxes at participating institutes / learning hubs for offline access and sync</a:t>
            </a:r>
            <a:endParaRPr sz="1200" b="0" i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75" name="Rounded Rectangle 15374"/>
          <p:cNvSpPr/>
          <p:nvPr/>
        </p:nvSpPr>
        <p:spPr>
          <a:xfrm>
            <a:off x="4754880" y="1188720"/>
            <a:ext cx="3566160" cy="310896"/>
          </a:xfrm>
          <a:prstGeom prst="roundRect">
            <a:avLst>
              <a:gd name="adj" fmla="val 30000"/>
            </a:avLst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754880" y="1600200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C0392B"/>
                </a:solidFill>
                <a:latin typeface="Arial"/>
              </a:rPr>
              <a:t>Manual, fragmented systems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6373368" y="191109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Rounded Rectangle 15377"/>
          <p:cNvSpPr/>
          <p:nvPr/>
        </p:nvSpPr>
        <p:spPr>
          <a:xfrm>
            <a:off x="6601968" y="1600200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 dirty="0">
                <a:solidFill>
                  <a:srgbClr val="0B2545"/>
                </a:solidFill>
                <a:latin typeface="Arial"/>
              </a:rPr>
              <a:t>Single cloud ERP for 20 NCCT institutes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754880" y="2331720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C0392B"/>
                </a:solidFill>
                <a:latin typeface="Arial"/>
              </a:rPr>
              <a:t>Duplicate records, </a:t>
            </a:r>
            <a:r>
              <a:rPr lang="en-US" sz="1000" b="1" dirty="0" smtClean="0">
                <a:solidFill>
                  <a:srgbClr val="C0392B"/>
                </a:solidFill>
                <a:latin typeface="Arial"/>
              </a:rPr>
              <a:t>limited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 </a:t>
            </a:r>
            <a:r>
              <a:rPr sz="1000" b="1" i="0" dirty="0">
                <a:solidFill>
                  <a:srgbClr val="C0392B"/>
                </a:solidFill>
                <a:latin typeface="Arial"/>
              </a:rPr>
              <a:t>tracking</a:t>
            </a:r>
          </a:p>
        </p:txBody>
      </p:sp>
      <p:cxnSp>
        <p:nvCxnSpPr>
          <p:cNvPr id="15380" name="Connector 15379"/>
          <p:cNvCxnSpPr/>
          <p:nvPr/>
        </p:nvCxnSpPr>
        <p:spPr>
          <a:xfrm>
            <a:off x="6373368" y="264261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1" name="Rounded Rectangle 15380"/>
          <p:cNvSpPr/>
          <p:nvPr/>
        </p:nvSpPr>
        <p:spPr>
          <a:xfrm>
            <a:off x="6601968" y="2331720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 dirty="0">
                <a:solidFill>
                  <a:srgbClr val="0B2545"/>
                </a:solidFill>
                <a:latin typeface="Arial"/>
              </a:rPr>
              <a:t>One </a:t>
            </a:r>
            <a:r>
              <a:rPr sz="1000" b="0" i="0" dirty="0" err="1">
                <a:solidFill>
                  <a:srgbClr val="0B2545"/>
                </a:solidFill>
                <a:latin typeface="Arial"/>
              </a:rPr>
              <a:t>Sahakar</a:t>
            </a:r>
            <a:r>
              <a:rPr sz="1000" b="0" i="0" dirty="0">
                <a:solidFill>
                  <a:srgbClr val="0B2545"/>
                </a:solidFill>
                <a:latin typeface="Arial"/>
              </a:rPr>
              <a:t> ID, </a:t>
            </a:r>
            <a:r>
              <a:rPr lang="en-US" sz="1000" dirty="0" smtClean="0">
                <a:solidFill>
                  <a:srgbClr val="0B2545"/>
                </a:solidFill>
                <a:latin typeface="Arial"/>
              </a:rPr>
              <a:t>unified trainee profile</a:t>
            </a:r>
            <a:endParaRPr sz="1000" b="0" i="0" dirty="0">
              <a:solidFill>
                <a:srgbClr val="0B2545"/>
              </a:solidFill>
              <a:latin typeface="Arial"/>
            </a:endParaRPr>
          </a:p>
        </p:txBody>
      </p:sp>
      <p:sp>
        <p:nvSpPr>
          <p:cNvPr id="15382" name="Rounded Rectangle 15381"/>
          <p:cNvSpPr/>
          <p:nvPr/>
        </p:nvSpPr>
        <p:spPr>
          <a:xfrm>
            <a:off x="4754880" y="3063239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 smtClean="0">
                <a:solidFill>
                  <a:srgbClr val="C0392B"/>
                </a:solidFill>
                <a:latin typeface="Arial"/>
              </a:rPr>
              <a:t>P</a:t>
            </a:r>
            <a:r>
              <a:rPr lang="en-US" sz="1000" b="1" i="0" dirty="0" smtClean="0">
                <a:solidFill>
                  <a:srgbClr val="C0392B"/>
                </a:solidFill>
                <a:latin typeface="Arial"/>
              </a:rPr>
              <a:t>aper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 </a:t>
            </a:r>
            <a:r>
              <a:rPr sz="1000" b="1" i="0" dirty="0">
                <a:solidFill>
                  <a:srgbClr val="C0392B"/>
                </a:solidFill>
                <a:latin typeface="Arial"/>
              </a:rPr>
              <a:t>/ </a:t>
            </a:r>
            <a:r>
              <a:rPr lang="en-US" sz="1000" b="1" dirty="0" smtClean="0">
                <a:solidFill>
                  <a:srgbClr val="C0392B"/>
                </a:solidFill>
                <a:latin typeface="Arial"/>
              </a:rPr>
              <a:t>manual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 attendance</a:t>
            </a:r>
            <a:endParaRPr sz="1000" b="1" i="0" dirty="0">
              <a:solidFill>
                <a:srgbClr val="C0392B"/>
              </a:solidFill>
              <a:latin typeface="Arial"/>
            </a:endParaRPr>
          </a:p>
        </p:txBody>
      </p:sp>
      <p:cxnSp>
        <p:nvCxnSpPr>
          <p:cNvPr id="15383" name="Connector 15382"/>
          <p:cNvCxnSpPr/>
          <p:nvPr/>
        </p:nvCxnSpPr>
        <p:spPr>
          <a:xfrm>
            <a:off x="6373368" y="337413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Rounded Rectangle 15383"/>
          <p:cNvSpPr/>
          <p:nvPr/>
        </p:nvSpPr>
        <p:spPr>
          <a:xfrm>
            <a:off x="6601968" y="3063239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 dirty="0">
                <a:solidFill>
                  <a:srgbClr val="0B2545"/>
                </a:solidFill>
                <a:latin typeface="Arial"/>
              </a:rPr>
              <a:t>Face + rotating-QR attendance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4754880" y="3794759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000" b="1" dirty="0" smtClean="0">
                <a:solidFill>
                  <a:srgbClr val="C0392B"/>
                </a:solidFill>
                <a:latin typeface="Arial"/>
              </a:rPr>
              <a:t>Low / unstable 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connectivity</a:t>
            </a:r>
            <a:endParaRPr sz="1000" b="1" i="0" dirty="0">
              <a:solidFill>
                <a:srgbClr val="C0392B"/>
              </a:solidFill>
              <a:latin typeface="Arial"/>
            </a:endParaRPr>
          </a:p>
        </p:txBody>
      </p:sp>
      <p:cxnSp>
        <p:nvCxnSpPr>
          <p:cNvPr id="15386" name="Connector 15385"/>
          <p:cNvCxnSpPr/>
          <p:nvPr/>
        </p:nvCxnSpPr>
        <p:spPr>
          <a:xfrm>
            <a:off x="6373368" y="410565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Rounded Rectangle 15386"/>
          <p:cNvSpPr/>
          <p:nvPr/>
        </p:nvSpPr>
        <p:spPr>
          <a:xfrm>
            <a:off x="6601968" y="3794759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 dirty="0">
                <a:solidFill>
                  <a:srgbClr val="0B2545"/>
                </a:solidFill>
                <a:latin typeface="Arial"/>
              </a:rPr>
              <a:t>Offline-first Edge Box + PWA app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754880" y="4526279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000" b="1" i="0" dirty="0" smtClean="0">
                <a:solidFill>
                  <a:srgbClr val="C0392B"/>
                </a:solidFill>
                <a:latin typeface="Arial"/>
              </a:rPr>
              <a:t>Manual </a:t>
            </a:r>
            <a:r>
              <a:rPr lang="en-US" sz="1000" b="1" dirty="0">
                <a:solidFill>
                  <a:srgbClr val="C0392B"/>
                </a:solidFill>
                <a:latin typeface="Arial"/>
              </a:rPr>
              <a:t>c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ertificate verif</a:t>
            </a:r>
            <a:r>
              <a:rPr lang="en-US" sz="1000" b="1" i="0" dirty="0" smtClean="0">
                <a:solidFill>
                  <a:srgbClr val="C0392B"/>
                </a:solidFill>
                <a:latin typeface="Arial"/>
              </a:rPr>
              <a:t>ication</a:t>
            </a:r>
            <a:endParaRPr sz="1000" b="1" i="0" dirty="0">
              <a:solidFill>
                <a:srgbClr val="C0392B"/>
              </a:solidFill>
              <a:latin typeface="Arial"/>
            </a:endParaRPr>
          </a:p>
        </p:txBody>
      </p:sp>
      <p:cxnSp>
        <p:nvCxnSpPr>
          <p:cNvPr id="15389" name="Connector 15388"/>
          <p:cNvCxnSpPr/>
          <p:nvPr/>
        </p:nvCxnSpPr>
        <p:spPr>
          <a:xfrm>
            <a:off x="6373368" y="483717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6601968" y="4526279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>
                <a:solidFill>
                  <a:srgbClr val="0B2545"/>
                </a:solidFill>
                <a:latin typeface="Arial"/>
              </a:rPr>
              <a:t>QR-signed Skill Passport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4754880" y="5257799"/>
            <a:ext cx="1600200" cy="621792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000" b="1" dirty="0" smtClean="0">
                <a:solidFill>
                  <a:srgbClr val="C0392B"/>
                </a:solidFill>
                <a:latin typeface="Arial"/>
              </a:rPr>
              <a:t>Limited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 </a:t>
            </a:r>
            <a:r>
              <a:rPr lang="en-US" sz="1000" b="1" i="0" dirty="0" smtClean="0">
                <a:solidFill>
                  <a:srgbClr val="C0392B"/>
                </a:solidFill>
                <a:latin typeface="Arial"/>
              </a:rPr>
              <a:t>employment</a:t>
            </a:r>
            <a:r>
              <a:rPr sz="1000" b="1" i="0" dirty="0" smtClean="0">
                <a:solidFill>
                  <a:srgbClr val="C0392B"/>
                </a:solidFill>
                <a:latin typeface="Arial"/>
              </a:rPr>
              <a:t> </a:t>
            </a:r>
            <a:r>
              <a:rPr sz="1000" b="1" i="0" dirty="0">
                <a:solidFill>
                  <a:srgbClr val="C0392B"/>
                </a:solidFill>
                <a:latin typeface="Arial"/>
              </a:rPr>
              <a:t>linkage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6373368" y="5568695"/>
            <a:ext cx="210312" cy="0"/>
          </a:xfrm>
          <a:prstGeom prst="line">
            <a:avLst/>
          </a:prstGeom>
          <a:ln w="19050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Rounded Rectangle 15392"/>
          <p:cNvSpPr/>
          <p:nvPr/>
        </p:nvSpPr>
        <p:spPr>
          <a:xfrm>
            <a:off x="6601968" y="5257799"/>
            <a:ext cx="1719072" cy="621792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0" i="0" dirty="0">
                <a:solidFill>
                  <a:srgbClr val="0B2545"/>
                </a:solidFill>
                <a:latin typeface="Arial"/>
              </a:rPr>
              <a:t>Employer dashboard + AI matching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8503920" y="1188720"/>
            <a:ext cx="3319272" cy="310896"/>
          </a:xfrm>
          <a:prstGeom prst="roundRect">
            <a:avLst>
              <a:gd name="adj" fmla="val 30000"/>
            </a:avLst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503920" y="1600200"/>
            <a:ext cx="3319272" cy="850392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6" name="Oval 15395"/>
          <p:cNvSpPr/>
          <p:nvPr/>
        </p:nvSpPr>
        <p:spPr>
          <a:xfrm>
            <a:off x="8577072" y="1673352"/>
            <a:ext cx="292608" cy="292608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915400" y="1743781"/>
            <a:ext cx="2880360" cy="56323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 dirty="0" err="1">
                <a:solidFill>
                  <a:srgbClr val="0B2545"/>
                </a:solidFill>
                <a:latin typeface="Arial"/>
              </a:rPr>
              <a:t>Sahakar</a:t>
            </a:r>
            <a:r>
              <a:rPr sz="1100" b="1" i="0" dirty="0">
                <a:solidFill>
                  <a:srgbClr val="0B2545"/>
                </a:solidFill>
                <a:latin typeface="Arial"/>
              </a:rPr>
              <a:t> Edge </a:t>
            </a:r>
            <a:r>
              <a:rPr sz="1100" b="1" i="0" dirty="0" smtClean="0">
                <a:solidFill>
                  <a:srgbClr val="0B2545"/>
                </a:solidFill>
                <a:latin typeface="Arial"/>
              </a:rPr>
              <a:t>Box</a:t>
            </a:r>
            <a:endParaRPr lang="en-US" sz="1100" b="1" i="0" dirty="0" smtClean="0">
              <a:solidFill>
                <a:srgbClr val="0B2545"/>
              </a:solidFill>
              <a:latin typeface="Arial"/>
            </a:endParaRPr>
          </a:p>
          <a:p>
            <a:r>
              <a:rPr lang="en-US" sz="1100" dirty="0" smtClean="0"/>
              <a:t>Offline </a:t>
            </a:r>
            <a:r>
              <a:rPr lang="en-US" sz="1100" dirty="0"/>
              <a:t>local learning gateway: cached LMS content + offline attendance + local sync</a:t>
            </a:r>
            <a:endParaRPr sz="1100" b="1" i="0" dirty="0" smtClean="0">
              <a:solidFill>
                <a:srgbClr val="0B2545"/>
              </a:solidFill>
              <a:latin typeface="Arial"/>
            </a:endParaRPr>
          </a:p>
        </p:txBody>
      </p:sp>
      <p:sp>
        <p:nvSpPr>
          <p:cNvPr id="15398" name="Rounded Rectangle 15397"/>
          <p:cNvSpPr/>
          <p:nvPr/>
        </p:nvSpPr>
        <p:spPr>
          <a:xfrm>
            <a:off x="8503920" y="2514600"/>
            <a:ext cx="3319272" cy="850392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9" name="Oval 15398"/>
          <p:cNvSpPr/>
          <p:nvPr/>
        </p:nvSpPr>
        <p:spPr>
          <a:xfrm>
            <a:off x="8577072" y="2587752"/>
            <a:ext cx="292608" cy="292608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8915400" y="2742818"/>
            <a:ext cx="2880360" cy="39395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100" b="1" i="0" dirty="0" smtClean="0">
                <a:solidFill>
                  <a:srgbClr val="0B2545"/>
                </a:solidFill>
                <a:latin typeface="Arial"/>
              </a:rPr>
              <a:t>Voice-first </a:t>
            </a:r>
            <a:r>
              <a:rPr lang="en-US" sz="1100" b="1" i="0" dirty="0" smtClean="0">
                <a:solidFill>
                  <a:srgbClr val="0B2545"/>
                </a:solidFill>
                <a:latin typeface="Arial"/>
              </a:rPr>
              <a:t>multilingual </a:t>
            </a:r>
            <a:r>
              <a:rPr sz="1100" b="1" i="0" dirty="0" smtClean="0">
                <a:solidFill>
                  <a:srgbClr val="0B2545"/>
                </a:solidFill>
                <a:latin typeface="Arial"/>
              </a:rPr>
              <a:t>AI</a:t>
            </a:r>
            <a:endParaRPr lang="en-US" sz="1100" b="1" i="0" dirty="0" smtClean="0">
              <a:solidFill>
                <a:srgbClr val="0B2545"/>
              </a:solidFill>
              <a:latin typeface="Arial"/>
            </a:endParaRPr>
          </a:p>
          <a:p>
            <a:r>
              <a:rPr lang="en-US" sz="1100" dirty="0" smtClean="0"/>
              <a:t>BHASHINI provides speech and language services</a:t>
            </a:r>
            <a:endParaRPr sz="1100" b="1" i="0" dirty="0" smtClean="0">
              <a:solidFill>
                <a:srgbClr val="0B2545"/>
              </a:solidFill>
              <a:latin typeface="Arial"/>
            </a:endParaRPr>
          </a:p>
        </p:txBody>
      </p:sp>
      <p:sp>
        <p:nvSpPr>
          <p:cNvPr id="15401" name="Rounded Rectangle 15400"/>
          <p:cNvSpPr/>
          <p:nvPr/>
        </p:nvSpPr>
        <p:spPr>
          <a:xfrm>
            <a:off x="8503920" y="3429000"/>
            <a:ext cx="3319272" cy="850392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2" name="Oval 15401"/>
          <p:cNvSpPr/>
          <p:nvPr/>
        </p:nvSpPr>
        <p:spPr>
          <a:xfrm>
            <a:off x="8577072" y="3502152"/>
            <a:ext cx="292608" cy="292608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8915400" y="3664913"/>
            <a:ext cx="2880360" cy="3785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0B2545"/>
                </a:solidFill>
                <a:latin typeface="Arial"/>
              </a:rPr>
              <a:t>Skill Passport</a:t>
            </a:r>
          </a:p>
          <a:p>
            <a:pPr algn="l"/>
            <a:r>
              <a:rPr sz="1000" b="0" i="0" dirty="0">
                <a:solidFill>
                  <a:srgbClr val="555F6B"/>
                </a:solidFill>
                <a:latin typeface="Arial"/>
              </a:rPr>
              <a:t>QR/digitally-signed, </a:t>
            </a:r>
            <a:r>
              <a:rPr sz="1000" b="0" i="0" dirty="0" smtClean="0">
                <a:solidFill>
                  <a:srgbClr val="555F6B"/>
                </a:solidFill>
                <a:latin typeface="Arial"/>
              </a:rPr>
              <a:t>employer-verifiable</a:t>
            </a:r>
            <a:endParaRPr sz="1000" b="0" i="0" dirty="0">
              <a:solidFill>
                <a:srgbClr val="555F6B"/>
              </a:solidFill>
              <a:latin typeface="Arial"/>
            </a:endParaRPr>
          </a:p>
        </p:txBody>
      </p:sp>
      <p:sp>
        <p:nvSpPr>
          <p:cNvPr id="15404" name="Rounded Rectangle 15403"/>
          <p:cNvSpPr/>
          <p:nvPr/>
        </p:nvSpPr>
        <p:spPr>
          <a:xfrm>
            <a:off x="8503920" y="4343400"/>
            <a:ext cx="3319272" cy="850392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5" name="Oval 15404"/>
          <p:cNvSpPr/>
          <p:nvPr/>
        </p:nvSpPr>
        <p:spPr>
          <a:xfrm>
            <a:off x="8577072" y="4416552"/>
            <a:ext cx="292608" cy="292608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8915400" y="4361688"/>
            <a:ext cx="2880360" cy="8138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0B2545"/>
                </a:solidFill>
                <a:latin typeface="Arial"/>
              </a:rPr>
              <a:t>Cooperative Skill Graph</a:t>
            </a:r>
          </a:p>
          <a:p>
            <a:pPr algn="l"/>
            <a:r>
              <a:rPr sz="1000" b="0" i="0" dirty="0">
                <a:solidFill>
                  <a:srgbClr val="555F6B"/>
                </a:solidFill>
                <a:latin typeface="Arial"/>
              </a:rPr>
              <a:t>Maps roles (PACS secretary, dairy accountant) to skills &amp; jobs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8503920" y="5257800"/>
            <a:ext cx="3319272" cy="850392"/>
          </a:xfrm>
          <a:prstGeom prst="roundRect">
            <a:avLst>
              <a:gd name="adj" fmla="val 1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8" name="Oval 15407"/>
          <p:cNvSpPr/>
          <p:nvPr/>
        </p:nvSpPr>
        <p:spPr>
          <a:xfrm>
            <a:off x="8577072" y="5330952"/>
            <a:ext cx="292608" cy="292608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915400" y="5276088"/>
            <a:ext cx="2880360" cy="81381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0B2545"/>
                </a:solidFill>
                <a:latin typeface="Arial"/>
              </a:rPr>
              <a:t>Outcome loop</a:t>
            </a:r>
          </a:p>
          <a:p>
            <a:pPr algn="l"/>
            <a:r>
              <a:rPr sz="1000" b="0" i="0" dirty="0">
                <a:solidFill>
                  <a:srgbClr val="555F6B"/>
                </a:solidFill>
                <a:latin typeface="Arial"/>
              </a:rPr>
              <a:t>Job &amp; income data feeds next </a:t>
            </a:r>
            <a:r>
              <a:rPr sz="1000" b="0" i="0" dirty="0" err="1">
                <a:solidFill>
                  <a:srgbClr val="555F6B"/>
                </a:solidFill>
                <a:latin typeface="Arial"/>
              </a:rPr>
              <a:t>programme</a:t>
            </a:r>
            <a:r>
              <a:rPr sz="1000" b="0" i="0" dirty="0">
                <a:solidFill>
                  <a:srgbClr val="555F6B"/>
                </a:solidFill>
                <a:latin typeface="Arial"/>
              </a:rPr>
              <a:t> planning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52927" y="640080"/>
            <a:ext cx="576072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One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Sahakar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ID  •  Train → Learn → Certify → Employ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8" name="Oval 57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29000"/>
            <a:ext cx="20251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Code2Scale</a:t>
            </a:r>
          </a:p>
          <a:p>
            <a:pPr algn="ctr"/>
            <a:endParaRPr lang="en-IN" dirty="0"/>
          </a:p>
        </p:txBody>
      </p:sp>
      <p:sp>
        <p:nvSpPr>
          <p:cNvPr id="950" name="Prototype Access Pill - Container"/>
          <p:cNvSpPr/>
          <p:nvPr/>
        </p:nvSpPr>
        <p:spPr>
          <a:xfrm>
            <a:off x="4750000" y="5915000"/>
            <a:ext cx="358000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FFFFFF"/>
            </a:solidFill>
          </a:ln>
          <a:effectLst>
            <a:glow rad="127000">
              <a:srgbClr val="FF7A00">
                <a:alpha val="55000"/>
              </a:srgbClr>
            </a:glow>
            <a:outerShdw blurRad="76200" dist="38100" dir="5400000" algn="t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/>
          </a:p>
        </p:txBody>
      </p:sp>
      <p:sp>
        <p:nvSpPr>
          <p:cNvPr id="951" name="Segment 1 - Working UI Demo (Website)">
            <a:hlinkClick r:id="rId4" tooltip="Open the live SahakarSetu working website (UI demo)"/>
          </p:cNvPr>
          <p:cNvSpPr/>
          <p:nvPr/>
        </p:nvSpPr>
        <p:spPr>
          <a:xfrm>
            <a:off x="4765875" y="5930875"/>
            <a:ext cx="1761425" cy="368250"/>
          </a:xfrm>
          <a:custGeom>
            <a:avLst/>
            <a:gdLst/>
            <a:ahLst/>
            <a:cxnLst/>
            <a:rect l="0" t="0" r="r" b="b"/>
            <a:pathLst>
              <a:path w="1761425" h="368250">
                <a:moveTo>
                  <a:pt x="184125" y="0"/>
                </a:moveTo>
                <a:lnTo>
                  <a:pt x="1761425" y="0"/>
                </a:lnTo>
                <a:lnTo>
                  <a:pt x="1761425" y="368250"/>
                </a:lnTo>
                <a:lnTo>
                  <a:pt x="184125" y="368250"/>
                </a:lnTo>
                <a:arcTo wR="184125" hR="184125" stAng="5400000" swAng="10800000"/>
                <a:close/>
              </a:path>
            </a:pathLst>
          </a:custGeom>
          <a:gradFill rotWithShape="1">
            <a:gsLst>
              <a:gs pos="0">
                <a:srgbClr val="FF9500"/>
              </a:gs>
              <a:gs pos="100000">
                <a:srgbClr val="E52E00"/>
              </a:gs>
            </a:gsLst>
            <a:lin ang="0" scaled="0"/>
          </a:gra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12000" tIns="0" rIns="40000" bIns="0" rtlCol="0" anchor="ctr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WORKING UI DEMO</a:t>
            </a:r>
          </a:p>
          <a:p>
            <a:pPr algn="l"/>
            <a:r>
              <a:rPr lang="en-US" sz="780" b="0" dirty="0">
                <a:solidFill>
                  <a:srgbClr val="FFFFFF"/>
                </a:solidFill>
                <a:latin typeface="Arial"/>
                <a:cs typeface="Arial"/>
              </a:rPr>
              <a:t>Click to open website</a:t>
            </a:r>
          </a:p>
        </p:txBody>
      </p:sp>
      <p:sp>
        <p:nvSpPr>
          <p:cNvPr id="952" name="Segment 2 - Prototype Video (YouTube)">
            <a:hlinkClick r:id="rId5" tooltip="Watch the SahakarSetu prototype video on YouTube"/>
          </p:cNvPr>
          <p:cNvSpPr/>
          <p:nvPr/>
        </p:nvSpPr>
        <p:spPr>
          <a:xfrm>
            <a:off x="6552700" y="5930875"/>
            <a:ext cx="1761425" cy="368250"/>
          </a:xfrm>
          <a:custGeom>
            <a:avLst/>
            <a:gdLst/>
            <a:ahLst/>
            <a:cxnLst/>
            <a:rect l="0" t="0" r="r" b="b"/>
            <a:pathLst>
              <a:path w="1761425" h="368250">
                <a:moveTo>
                  <a:pt x="0" y="0"/>
                </a:moveTo>
                <a:lnTo>
                  <a:pt x="1577300" y="0"/>
                </a:lnTo>
                <a:arcTo wR="184125" hR="184125" stAng="16200000" swAng="10800000"/>
                <a:lnTo>
                  <a:pt x="0" y="368250"/>
                </a:lnTo>
                <a:close/>
              </a:path>
            </a:pathLst>
          </a:custGeom>
          <a:gradFill rotWithShape="1">
            <a:gsLst>
              <a:gs pos="0">
                <a:srgbClr val="0B2545"/>
              </a:gs>
              <a:gs pos="100000">
                <a:srgbClr val="1F5FA8"/>
              </a:gs>
            </a:gsLst>
            <a:lin ang="0" scaled="0"/>
          </a:gra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12000" tIns="0" rIns="120000" bIns="0" rtlCol="0" anchor="ctr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PROTOTYPE VIDEO</a:t>
            </a:r>
          </a:p>
          <a:p>
            <a:pPr algn="l"/>
            <a:r>
              <a:rPr lang="en-US" sz="780" b="0" dirty="0">
                <a:solidFill>
                  <a:srgbClr val="FFFFFF"/>
                </a:solidFill>
                <a:latin typeface="Arial"/>
                <a:cs typeface="Arial"/>
              </a:rPr>
              <a:t>Click to watch video</a:t>
            </a:r>
          </a:p>
        </p:txBody>
      </p:sp>
      <p:sp>
        <p:nvSpPr>
          <p:cNvPr id="953" name="Working UI Demo Icon Disc">
            <a:hlinkClick r:id="rId4" tooltip="Open the live SahakarSetu working website (UI demo)"/>
          </p:cNvPr>
          <p:cNvSpPr/>
          <p:nvPr/>
        </p:nvSpPr>
        <p:spPr>
          <a:xfrm>
            <a:off x="4806000" y="5959000"/>
            <a:ext cx="312000" cy="31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endParaRPr lang="en-US" sz="800"/>
          </a:p>
        </p:txBody>
      </p:sp>
      <p:sp>
        <p:nvSpPr>
          <p:cNvPr id="954" name="Working UI Demo Icon (Browser Window)" descr="Browser window icon">
            <a:hlinkClick r:id="rId4" tooltip="Open the live SahakarSetu working website (UI demo)"/>
          </p:cNvPr>
          <p:cNvSpPr/>
          <p:nvPr/>
        </p:nvSpPr>
        <p:spPr>
          <a:xfrm>
            <a:off x="4882000" y="6082018"/>
            <a:ext cx="117839" cy="97982"/>
          </a:xfrm>
          <a:prstGeom prst="flowChartInternalStorage">
            <a:avLst/>
          </a:prstGeom>
          <a:solidFill>
            <a:srgbClr val="FFFFFF"/>
          </a:solidFill>
          <a:ln w="19050">
            <a:solidFill>
              <a:srgbClr val="E52E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/>
          </a:p>
        </p:txBody>
      </p:sp>
      <p:sp>
        <p:nvSpPr>
          <p:cNvPr id="955" name="Prototype Video Icon Disc">
            <a:hlinkClick r:id="rId5" tooltip="Watch the SahakarSetu prototype video on YouTube"/>
          </p:cNvPr>
          <p:cNvSpPr/>
          <p:nvPr/>
        </p:nvSpPr>
        <p:spPr>
          <a:xfrm>
            <a:off x="6592825" y="5959000"/>
            <a:ext cx="312000" cy="31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endParaRPr lang="en-US" sz="800"/>
          </a:p>
        </p:txBody>
      </p:sp>
      <p:sp>
        <p:nvSpPr>
          <p:cNvPr id="956" name="Prototype Video Icon (Play)" descr="Play icon">
            <a:hlinkClick r:id="rId5" tooltip="Watch the SahakarSetu prototype video on YouTube"/>
          </p:cNvPr>
          <p:cNvSpPr/>
          <p:nvPr/>
        </p:nvSpPr>
        <p:spPr>
          <a:xfrm rot="5400000">
            <a:off x="6691825" y="6045000"/>
            <a:ext cx="130000" cy="140000"/>
          </a:xfrm>
          <a:prstGeom prst="triangle">
            <a:avLst/>
          </a:prstGeom>
          <a:solidFill>
            <a:srgbClr val="1F5FA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7" name="Oval 66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29000"/>
            <a:ext cx="20251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Code2Scale</a:t>
            </a:r>
          </a:p>
          <a:p>
            <a:pPr algn="ctr"/>
            <a:endParaRPr lang="en-IN" dirty="0"/>
          </a:p>
        </p:txBody>
      </p:sp>
      <p:sp>
        <p:nvSpPr>
          <p:cNvPr id="17489" name="TextBox 17488"/>
          <p:cNvSpPr txBox="1"/>
          <p:nvPr/>
        </p:nvSpPr>
        <p:spPr>
          <a:xfrm>
            <a:off x="9370000" y="1350000"/>
            <a:ext cx="2750000" cy="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6E"/>
                </a:solidFill>
              </a:rPr>
              <a:t>🔄 Methodology Flow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9370000" y="140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E5FA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1" name="Oval 17490"/>
          <p:cNvSpPr/>
          <p:nvPr/>
        </p:nvSpPr>
        <p:spPr>
          <a:xfrm>
            <a:off x="9410000" y="153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9680000" y="143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Register &amp; Nominate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9680000" y="164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Online form → </a:t>
            </a:r>
            <a:r>
              <a:rPr sz="1050" b="0" dirty="0" err="1">
                <a:solidFill>
                  <a:srgbClr val="E0ECFF"/>
                </a:solidFill>
              </a:rPr>
              <a:t>Sahakar</a:t>
            </a:r>
            <a:r>
              <a:rPr sz="1050" b="0" dirty="0">
                <a:solidFill>
                  <a:srgbClr val="E0ECFF"/>
                </a:solidFill>
              </a:rPr>
              <a:t> ID issued</a:t>
            </a:r>
          </a:p>
        </p:txBody>
      </p:sp>
      <p:cxnSp>
        <p:nvCxnSpPr>
          <p:cNvPr id="17494" name="Connector 17493"/>
          <p:cNvCxnSpPr/>
          <p:nvPr/>
        </p:nvCxnSpPr>
        <p:spPr>
          <a:xfrm>
            <a:off x="9620000" y="191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5" name="Rectangle 17494"/>
          <p:cNvSpPr/>
          <p:nvPr/>
        </p:nvSpPr>
        <p:spPr>
          <a:xfrm>
            <a:off x="9370000" y="199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64E8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6" name="Oval 17495"/>
          <p:cNvSpPr/>
          <p:nvPr/>
        </p:nvSpPr>
        <p:spPr>
          <a:xfrm>
            <a:off x="9410000" y="212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9680000" y="202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Approve &amp; Allocate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9680000" y="223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Seat, timetable, hostel, travel</a:t>
            </a:r>
          </a:p>
        </p:txBody>
      </p:sp>
      <p:cxnSp>
        <p:nvCxnSpPr>
          <p:cNvPr id="17499" name="Connector 17498"/>
          <p:cNvCxnSpPr/>
          <p:nvPr/>
        </p:nvCxnSpPr>
        <p:spPr>
          <a:xfrm>
            <a:off x="9620000" y="250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0" name="Rectangle 17499"/>
          <p:cNvSpPr/>
          <p:nvPr/>
        </p:nvSpPr>
        <p:spPr>
          <a:xfrm>
            <a:off x="9370000" y="258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E5FA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1" name="Oval 17500"/>
          <p:cNvSpPr/>
          <p:nvPr/>
        </p:nvSpPr>
        <p:spPr>
          <a:xfrm>
            <a:off x="9410000" y="271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9680000" y="261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Verify &amp; Attend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9680000" y="282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Face/QR, geo-fenced, </a:t>
            </a:r>
            <a:r>
              <a:rPr sz="1050" b="0" dirty="0" err="1">
                <a:solidFill>
                  <a:srgbClr val="E0ECFF"/>
                </a:solidFill>
              </a:rPr>
              <a:t>liveness</a:t>
            </a:r>
            <a:endParaRPr sz="1050" b="0" dirty="0">
              <a:solidFill>
                <a:srgbClr val="E0ECFF"/>
              </a:solidFill>
            </a:endParaRPr>
          </a:p>
        </p:txBody>
      </p:sp>
      <p:cxnSp>
        <p:nvCxnSpPr>
          <p:cNvPr id="17504" name="Connector 17503"/>
          <p:cNvCxnSpPr/>
          <p:nvPr/>
        </p:nvCxnSpPr>
        <p:spPr>
          <a:xfrm>
            <a:off x="9620000" y="309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5" name="Rectangle 17504"/>
          <p:cNvSpPr/>
          <p:nvPr/>
        </p:nvSpPr>
        <p:spPr>
          <a:xfrm>
            <a:off x="9370000" y="317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64E8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6" name="Oval 17505"/>
          <p:cNvSpPr/>
          <p:nvPr/>
        </p:nvSpPr>
        <p:spPr>
          <a:xfrm>
            <a:off x="9410000" y="330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9680000" y="320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9680000" y="341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Multilingual, online + offline</a:t>
            </a:r>
          </a:p>
        </p:txBody>
      </p:sp>
      <p:cxnSp>
        <p:nvCxnSpPr>
          <p:cNvPr id="17509" name="Connector 17508"/>
          <p:cNvCxnSpPr/>
          <p:nvPr/>
        </p:nvCxnSpPr>
        <p:spPr>
          <a:xfrm>
            <a:off x="9620000" y="368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0" name="Rectangle 17509"/>
          <p:cNvSpPr/>
          <p:nvPr/>
        </p:nvSpPr>
        <p:spPr>
          <a:xfrm>
            <a:off x="9370000" y="376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E5FA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1" name="Oval 17510"/>
          <p:cNvSpPr/>
          <p:nvPr/>
        </p:nvSpPr>
        <p:spPr>
          <a:xfrm>
            <a:off x="9410000" y="389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9680000" y="379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Assess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9680000" y="3905000"/>
            <a:ext cx="2420000" cy="33847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050" b="0" dirty="0" smtClean="0">
                <a:solidFill>
                  <a:srgbClr val="E0ECFF"/>
                </a:solidFill>
              </a:rPr>
              <a:t>Automated quiz scoring + rubric-assisted project evaluation</a:t>
            </a:r>
            <a:endParaRPr sz="1050" b="0" dirty="0">
              <a:solidFill>
                <a:srgbClr val="E0ECFF"/>
              </a:solidFill>
            </a:endParaRPr>
          </a:p>
        </p:txBody>
      </p:sp>
      <p:cxnSp>
        <p:nvCxnSpPr>
          <p:cNvPr id="17514" name="Connector 17513"/>
          <p:cNvCxnSpPr/>
          <p:nvPr/>
        </p:nvCxnSpPr>
        <p:spPr>
          <a:xfrm>
            <a:off x="9620000" y="427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5" name="Rectangle 17514"/>
          <p:cNvSpPr/>
          <p:nvPr/>
        </p:nvSpPr>
        <p:spPr>
          <a:xfrm>
            <a:off x="9370000" y="435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64E8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6" name="Oval 17515"/>
          <p:cNvSpPr/>
          <p:nvPr/>
        </p:nvSpPr>
        <p:spPr>
          <a:xfrm>
            <a:off x="9410000" y="448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517" name="TextBox 17516"/>
          <p:cNvSpPr txBox="1"/>
          <p:nvPr/>
        </p:nvSpPr>
        <p:spPr>
          <a:xfrm>
            <a:off x="9680000" y="438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Certify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9680000" y="459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QR Skill Passport issued</a:t>
            </a:r>
          </a:p>
        </p:txBody>
      </p:sp>
      <p:cxnSp>
        <p:nvCxnSpPr>
          <p:cNvPr id="17519" name="Connector 17518"/>
          <p:cNvCxnSpPr/>
          <p:nvPr/>
        </p:nvCxnSpPr>
        <p:spPr>
          <a:xfrm>
            <a:off x="9620000" y="486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0" name="Rectangle 17519"/>
          <p:cNvSpPr/>
          <p:nvPr/>
        </p:nvSpPr>
        <p:spPr>
          <a:xfrm>
            <a:off x="9370000" y="494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E5FA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1" name="Oval 17520"/>
          <p:cNvSpPr/>
          <p:nvPr/>
        </p:nvSpPr>
        <p:spPr>
          <a:xfrm>
            <a:off x="9410000" y="507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522" name="TextBox 17521"/>
          <p:cNvSpPr txBox="1"/>
          <p:nvPr/>
        </p:nvSpPr>
        <p:spPr>
          <a:xfrm>
            <a:off x="9680000" y="497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Match &amp; Place</a:t>
            </a:r>
          </a:p>
        </p:txBody>
      </p:sp>
      <p:sp>
        <p:nvSpPr>
          <p:cNvPr id="17523" name="TextBox 17522"/>
          <p:cNvSpPr txBox="1"/>
          <p:nvPr/>
        </p:nvSpPr>
        <p:spPr>
          <a:xfrm>
            <a:off x="9680000" y="518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 smtClean="0">
                <a:solidFill>
                  <a:srgbClr val="E0ECFF"/>
                </a:solidFill>
              </a:rPr>
              <a:t>Jobs</a:t>
            </a:r>
            <a:r>
              <a:rPr lang="en-US" sz="1050" dirty="0" smtClean="0">
                <a:solidFill>
                  <a:srgbClr val="E0ECFF"/>
                </a:solidFill>
              </a:rPr>
              <a:t> + entrepreneurship opportunities</a:t>
            </a:r>
            <a:endParaRPr sz="1050" b="0" dirty="0">
              <a:solidFill>
                <a:srgbClr val="E0ECFF"/>
              </a:solidFill>
            </a:endParaRPr>
          </a:p>
        </p:txBody>
      </p:sp>
      <p:cxnSp>
        <p:nvCxnSpPr>
          <p:cNvPr id="17524" name="Connector 17523"/>
          <p:cNvCxnSpPr/>
          <p:nvPr/>
        </p:nvCxnSpPr>
        <p:spPr>
          <a:xfrm>
            <a:off x="9620000" y="5450000"/>
            <a:ext cx="0" cy="70000"/>
          </a:xfrm>
          <a:prstGeom prst="line">
            <a:avLst/>
          </a:prstGeom>
          <a:ln w="15240">
            <a:solidFill>
              <a:srgbClr val="F0802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5" name="Rectangle 17524"/>
          <p:cNvSpPr/>
          <p:nvPr/>
        </p:nvSpPr>
        <p:spPr>
          <a:xfrm>
            <a:off x="9370000" y="5530000"/>
            <a:ext cx="2750000" cy="510000"/>
          </a:xfrm>
          <a:prstGeom prst="roundRect">
            <a:avLst>
              <a:gd name="adj" fmla="val 10000"/>
            </a:avLst>
          </a:prstGeom>
          <a:solidFill>
            <a:srgbClr val="164E8C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6" name="Oval 17525"/>
          <p:cNvSpPr/>
          <p:nvPr/>
        </p:nvSpPr>
        <p:spPr>
          <a:xfrm>
            <a:off x="9410000" y="5660000"/>
            <a:ext cx="250000" cy="250000"/>
          </a:xfrm>
          <a:prstGeom prst="ellipse">
            <a:avLst/>
          </a:prstGeom>
          <a:solidFill>
            <a:srgbClr val="F080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9680000" y="5560000"/>
            <a:ext cx="242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Track &amp; Improve</a:t>
            </a:r>
          </a:p>
        </p:txBody>
      </p:sp>
      <p:sp>
        <p:nvSpPr>
          <p:cNvPr id="17528" name="TextBox 17527"/>
          <p:cNvSpPr txBox="1"/>
          <p:nvPr/>
        </p:nvSpPr>
        <p:spPr>
          <a:xfrm>
            <a:off x="9680000" y="5770000"/>
            <a:ext cx="24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dirty="0">
                <a:solidFill>
                  <a:srgbClr val="E0ECFF"/>
                </a:solidFill>
              </a:rPr>
              <a:t>6-month outcome analytics</a:t>
            </a:r>
          </a:p>
        </p:txBody>
      </p:sp>
      <p:sp>
        <p:nvSpPr>
          <p:cNvPr id="17535" name="Rectangle 17534"/>
          <p:cNvSpPr/>
          <p:nvPr/>
        </p:nvSpPr>
        <p:spPr>
          <a:xfrm>
            <a:off x="80000" y="1090053"/>
            <a:ext cx="2750000" cy="27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6" name="TextBox 17535"/>
          <p:cNvSpPr txBox="1"/>
          <p:nvPr/>
        </p:nvSpPr>
        <p:spPr>
          <a:xfrm>
            <a:off x="34968" y="1103779"/>
            <a:ext cx="27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IN" sz="1100" b="1" dirty="0">
                <a:solidFill>
                  <a:srgbClr val="FFFFFF"/>
                </a:solidFill>
              </a:rPr>
              <a:t>Technologies to be </a:t>
            </a:r>
            <a:r>
              <a:rPr lang="en-IN" sz="1100" b="1" dirty="0" smtClean="0">
                <a:solidFill>
                  <a:srgbClr val="FFFFFF"/>
                </a:solidFill>
              </a:rPr>
              <a:t>used</a:t>
            </a:r>
            <a:endParaRPr lang="en-IN" sz="1100" b="1" dirty="0">
              <a:solidFill>
                <a:srgbClr val="FFFFFF"/>
              </a:solidFill>
            </a:endParaRPr>
          </a:p>
        </p:txBody>
      </p:sp>
      <p:sp>
        <p:nvSpPr>
          <p:cNvPr id="17537" name="Rectangle 17536"/>
          <p:cNvSpPr/>
          <p:nvPr/>
        </p:nvSpPr>
        <p:spPr>
          <a:xfrm>
            <a:off x="9360000" y="1092928"/>
            <a:ext cx="2750000" cy="27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8" name="TextBox 17537"/>
          <p:cNvSpPr txBox="1"/>
          <p:nvPr/>
        </p:nvSpPr>
        <p:spPr>
          <a:xfrm>
            <a:off x="9290337" y="1115991"/>
            <a:ext cx="288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IN" sz="1100" b="1" dirty="0">
                <a:solidFill>
                  <a:srgbClr val="FFFFFF"/>
                </a:solidFill>
              </a:rPr>
              <a:t>Methodology and process for implementation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3600" dirty="0"/>
          </a:p>
        </p:txBody>
      </p:sp>
      <p:sp>
        <p:nvSpPr>
          <p:cNvPr id="17542" name="Rounded Rectangle 17541"/>
          <p:cNvSpPr/>
          <p:nvPr/>
        </p:nvSpPr>
        <p:spPr>
          <a:xfrm>
            <a:off x="80000" y="1500000"/>
            <a:ext cx="27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/>
            <a:r>
              <a:rPr sz="1200" b="1">
                <a:solidFill>
                  <a:srgbClr val="0B2545"/>
                </a:solidFill>
              </a:rPr>
              <a:t>📱 APPS &amp; WEB</a:t>
            </a:r>
          </a:p>
          <a:p>
            <a:pPr>
              <a:defRPr sz="400"/>
            </a:pPr>
            <a:endParaRPr sz="1200" b="1">
              <a:solidFill>
                <a:srgbClr val="0B2545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React PWA &amp; Flutter for offline-first, multilingual trainee access.</a:t>
            </a:r>
          </a:p>
        </p:txBody>
      </p:sp>
      <p:sp>
        <p:nvSpPr>
          <p:cNvPr id="17543" name="Rounded Rectangle 17542"/>
          <p:cNvSpPr/>
          <p:nvPr/>
        </p:nvSpPr>
        <p:spPr>
          <a:xfrm>
            <a:off x="80000" y="2450000"/>
            <a:ext cx="27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/>
            <a:r>
              <a:rPr sz="1200" b="1">
                <a:solidFill>
                  <a:srgbClr val="0B2545"/>
                </a:solidFill>
              </a:rPr>
              <a:t>☁️ CLOUD ERP &amp; LMS</a:t>
            </a:r>
          </a:p>
          <a:p>
            <a:pPr>
              <a:defRPr sz="400"/>
            </a:pPr>
            <a:endParaRPr sz="1200" b="1">
              <a:solidFill>
                <a:srgbClr val="0B2545"/>
              </a:solidFill>
            </a:endParaRPr>
          </a:p>
          <a:p>
            <a:pPr algn="l"/>
            <a:r>
              <a:rPr sz="1000" b="0">
                <a:solidFill>
                  <a:srgbClr val="333333"/>
                </a:solidFill>
              </a:rPr>
              <a:t>Django, PostgreSQL, &amp; Moodle core running on secure servers.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80000" y="3400000"/>
            <a:ext cx="27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/>
            <a:r>
              <a:rPr sz="1200" b="1" dirty="0">
                <a:solidFill>
                  <a:srgbClr val="0B2545"/>
                </a:solidFill>
              </a:rPr>
              <a:t>🤖 </a:t>
            </a:r>
            <a:r>
              <a:rPr lang="en-US" sz="1200" b="1" dirty="0" smtClean="0">
                <a:solidFill>
                  <a:srgbClr val="0B2545"/>
                </a:solidFill>
              </a:rPr>
              <a:t> </a:t>
            </a:r>
            <a:r>
              <a:rPr sz="1200" b="1" dirty="0" smtClean="0">
                <a:solidFill>
                  <a:srgbClr val="0B2545"/>
                </a:solidFill>
              </a:rPr>
              <a:t>AI PIPELINE</a:t>
            </a:r>
            <a:endParaRPr sz="1200" b="1" dirty="0">
              <a:solidFill>
                <a:srgbClr val="0B2545"/>
              </a:solidFill>
            </a:endParaRPr>
          </a:p>
          <a:p>
            <a:pPr algn="l"/>
            <a:r>
              <a:rPr sz="1000" b="0" dirty="0" err="1" smtClean="0">
                <a:solidFill>
                  <a:srgbClr val="333333"/>
                </a:solidFill>
              </a:rPr>
              <a:t>ArcFace</a:t>
            </a:r>
            <a:r>
              <a:rPr sz="1000" b="0" dirty="0" smtClean="0">
                <a:solidFill>
                  <a:srgbClr val="333333"/>
                </a:solidFill>
              </a:rPr>
              <a:t> </a:t>
            </a:r>
            <a:r>
              <a:rPr lang="en-US" sz="1000" b="0" dirty="0" smtClean="0">
                <a:solidFill>
                  <a:srgbClr val="333333"/>
                </a:solidFill>
              </a:rPr>
              <a:t>+ </a:t>
            </a:r>
            <a:r>
              <a:rPr lang="en-US" sz="1000" b="0" dirty="0" err="1" smtClean="0">
                <a:solidFill>
                  <a:srgbClr val="333333"/>
                </a:solidFill>
              </a:rPr>
              <a:t>liveness</a:t>
            </a:r>
            <a:r>
              <a:rPr lang="en-US" sz="1000" b="0" dirty="0" smtClean="0">
                <a:solidFill>
                  <a:srgbClr val="333333"/>
                </a:solidFill>
              </a:rPr>
              <a:t> </a:t>
            </a:r>
            <a:r>
              <a:rPr sz="1000" b="0" dirty="0" smtClean="0">
                <a:solidFill>
                  <a:srgbClr val="333333"/>
                </a:solidFill>
              </a:rPr>
              <a:t>(attendance), B</a:t>
            </a:r>
            <a:r>
              <a:rPr lang="en-US" sz="1000" b="0" dirty="0" smtClean="0">
                <a:solidFill>
                  <a:srgbClr val="333333"/>
                </a:solidFill>
              </a:rPr>
              <a:t>HASHINI</a:t>
            </a:r>
            <a:r>
              <a:rPr sz="1000" b="0" dirty="0" smtClean="0">
                <a:solidFill>
                  <a:srgbClr val="333333"/>
                </a:solidFill>
              </a:rPr>
              <a:t> (voice</a:t>
            </a:r>
            <a:r>
              <a:rPr lang="en-US" sz="1000" b="0" dirty="0" smtClean="0">
                <a:solidFill>
                  <a:srgbClr val="333333"/>
                </a:solidFill>
              </a:rPr>
              <a:t>/language</a:t>
            </a:r>
            <a:r>
              <a:rPr sz="1000" b="0" dirty="0" smtClean="0">
                <a:solidFill>
                  <a:srgbClr val="333333"/>
                </a:solidFill>
              </a:rPr>
              <a:t>), &amp; </a:t>
            </a:r>
            <a:r>
              <a:rPr sz="1000" b="0" dirty="0" err="1" smtClean="0">
                <a:solidFill>
                  <a:srgbClr val="333333"/>
                </a:solidFill>
              </a:rPr>
              <a:t>XGBoost</a:t>
            </a:r>
            <a:r>
              <a:rPr sz="1000" b="0" dirty="0" smtClean="0">
                <a:solidFill>
                  <a:srgbClr val="333333"/>
                </a:solidFill>
              </a:rPr>
              <a:t> </a:t>
            </a:r>
            <a:r>
              <a:rPr lang="en-US" sz="1000" b="0" dirty="0" smtClean="0">
                <a:solidFill>
                  <a:srgbClr val="333333"/>
                </a:solidFill>
              </a:rPr>
              <a:t>Ranker </a:t>
            </a:r>
            <a:r>
              <a:rPr sz="1000" b="0" dirty="0" smtClean="0">
                <a:solidFill>
                  <a:srgbClr val="333333"/>
                </a:solidFill>
              </a:rPr>
              <a:t>(</a:t>
            </a:r>
            <a:r>
              <a:rPr lang="en-US" sz="1000" b="0" dirty="0" smtClean="0">
                <a:solidFill>
                  <a:srgbClr val="333333"/>
                </a:solidFill>
              </a:rPr>
              <a:t>skill</a:t>
            </a:r>
            <a:r>
              <a:rPr sz="1000" b="0" dirty="0" smtClean="0">
                <a:solidFill>
                  <a:srgbClr val="333333"/>
                </a:solidFill>
              </a:rPr>
              <a:t>-</a:t>
            </a:r>
            <a:r>
              <a:rPr lang="en-IN" sz="1000" b="0" dirty="0" smtClean="0">
                <a:solidFill>
                  <a:srgbClr val="333333"/>
                </a:solidFill>
              </a:rPr>
              <a:t>job</a:t>
            </a:r>
            <a:r>
              <a:rPr lang="en-US" sz="1000" b="0" dirty="0" smtClean="0">
                <a:solidFill>
                  <a:srgbClr val="333333"/>
                </a:solidFill>
              </a:rPr>
              <a:t> ranking</a:t>
            </a:r>
            <a:r>
              <a:rPr sz="1000" b="0" dirty="0" smtClean="0">
                <a:solidFill>
                  <a:srgbClr val="333333"/>
                </a:solidFill>
              </a:rPr>
              <a:t>).</a:t>
            </a:r>
            <a:endParaRPr sz="1000" b="0" dirty="0">
              <a:solidFill>
                <a:srgbClr val="333333"/>
              </a:solidFill>
            </a:endParaRPr>
          </a:p>
        </p:txBody>
      </p:sp>
      <p:sp>
        <p:nvSpPr>
          <p:cNvPr id="17545" name="Rounded Rectangle 17544"/>
          <p:cNvSpPr/>
          <p:nvPr/>
        </p:nvSpPr>
        <p:spPr>
          <a:xfrm>
            <a:off x="80000" y="4329863"/>
            <a:ext cx="2750000" cy="85013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/>
            <a:r>
              <a:rPr sz="1200" b="1" dirty="0">
                <a:solidFill>
                  <a:srgbClr val="0B2545"/>
                </a:solidFill>
              </a:rPr>
              <a:t>🔧 HARDWARE CORE</a:t>
            </a:r>
          </a:p>
          <a:p>
            <a:pPr>
              <a:defRPr sz="400"/>
            </a:pPr>
            <a:endParaRPr sz="1200" b="1" dirty="0">
              <a:solidFill>
                <a:srgbClr val="0B2545"/>
              </a:solidFill>
            </a:endParaRPr>
          </a:p>
          <a:p>
            <a:pPr algn="l"/>
            <a:r>
              <a:rPr lang="en-US" sz="1000" b="0" dirty="0" smtClean="0">
                <a:solidFill>
                  <a:srgbClr val="333333"/>
                </a:solidFill>
              </a:rPr>
              <a:t>Raspberry </a:t>
            </a:r>
            <a:r>
              <a:rPr sz="1000" b="0" dirty="0" smtClean="0">
                <a:solidFill>
                  <a:srgbClr val="333333"/>
                </a:solidFill>
              </a:rPr>
              <a:t>Pi </a:t>
            </a:r>
            <a:r>
              <a:rPr sz="1000" b="0" dirty="0">
                <a:solidFill>
                  <a:srgbClr val="333333"/>
                </a:solidFill>
              </a:rPr>
              <a:t>5 Edge </a:t>
            </a:r>
            <a:r>
              <a:rPr sz="1000" b="0" dirty="0" smtClean="0">
                <a:solidFill>
                  <a:srgbClr val="333333"/>
                </a:solidFill>
              </a:rPr>
              <a:t>Box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smtClean="0">
                <a:solidFill>
                  <a:srgbClr val="333333"/>
                </a:solidFill>
              </a:rPr>
              <a:t>+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sz="1000" b="0" dirty="0" smtClean="0">
                <a:solidFill>
                  <a:srgbClr val="333333"/>
                </a:solidFill>
              </a:rPr>
              <a:t>QR</a:t>
            </a:r>
            <a:r>
              <a:rPr lang="en-US" sz="1000" b="0" dirty="0" smtClean="0">
                <a:solidFill>
                  <a:srgbClr val="333333"/>
                </a:solidFill>
              </a:rPr>
              <a:t>/attendanc</a:t>
            </a:r>
            <a:r>
              <a:rPr lang="en-US" sz="1000" dirty="0" smtClean="0">
                <a:solidFill>
                  <a:srgbClr val="333333"/>
                </a:solidFill>
              </a:rPr>
              <a:t>e terminal</a:t>
            </a:r>
          </a:p>
          <a:p>
            <a:pPr algn="l"/>
            <a:r>
              <a:rPr lang="en-US" sz="1000" b="0" dirty="0" smtClean="0">
                <a:solidFill>
                  <a:srgbClr val="333333"/>
                </a:solidFill>
              </a:rPr>
              <a:t>Local learning + store-and-forward sync.</a:t>
            </a:r>
            <a:endParaRPr sz="1000" b="0" dirty="0">
              <a:solidFill>
                <a:srgbClr val="333333"/>
              </a:solidFill>
            </a:endParaRPr>
          </a:p>
        </p:txBody>
      </p:sp>
      <p:sp>
        <p:nvSpPr>
          <p:cNvPr id="17546" name="Rounded Rectangle 17545"/>
          <p:cNvSpPr/>
          <p:nvPr/>
        </p:nvSpPr>
        <p:spPr>
          <a:xfrm>
            <a:off x="80000" y="5300000"/>
            <a:ext cx="2750000" cy="7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/>
            <a:r>
              <a:rPr sz="1200" b="1" dirty="0">
                <a:solidFill>
                  <a:srgbClr val="0B2545"/>
                </a:solidFill>
              </a:rPr>
              <a:t>🔒 SECURITY</a:t>
            </a:r>
          </a:p>
          <a:p>
            <a:pPr>
              <a:defRPr sz="400"/>
            </a:pPr>
            <a:endParaRPr sz="1200" b="1" dirty="0">
              <a:solidFill>
                <a:srgbClr val="0B2545"/>
              </a:solidFill>
            </a:endParaRPr>
          </a:p>
          <a:p>
            <a:r>
              <a:rPr sz="1000" b="0" dirty="0" smtClean="0">
                <a:solidFill>
                  <a:srgbClr val="333333"/>
                </a:solidFill>
              </a:rPr>
              <a:t>DPDP</a:t>
            </a:r>
            <a:r>
              <a:rPr lang="en-US" sz="1000" dirty="0" smtClean="0">
                <a:solidFill>
                  <a:srgbClr val="333333"/>
                </a:solidFill>
              </a:rPr>
              <a:t>-aligned privacy </a:t>
            </a:r>
            <a:r>
              <a:rPr lang="en-IN" sz="10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encryption • audit logs</a:t>
            </a:r>
            <a:endParaRPr sz="1000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663" y="1042878"/>
            <a:ext cx="6380674" cy="4377122"/>
          </a:xfrm>
          <a:prstGeom prst="rect">
            <a:avLst/>
          </a:prstGeom>
        </p:spPr>
      </p:pic>
      <p:sp>
        <p:nvSpPr>
          <p:cNvPr id="950" name="Technical Report Button">
            <a:hlinkClick r:id="rId5" tooltip="Open the SahakarSetu technical report and source code on GitHub"/>
          </p:cNvPr>
          <p:cNvSpPr/>
          <p:nvPr/>
        </p:nvSpPr>
        <p:spPr>
          <a:xfrm>
            <a:off x="3480000" y="5560000"/>
            <a:ext cx="5200000" cy="60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B3DFF"/>
              </a:gs>
              <a:gs pos="100000">
                <a:srgbClr val="C2187A"/>
              </a:gs>
            </a:gsLst>
            <a:lin ang="0" scaled="0"/>
          </a:gradFill>
          <a:ln w="31750">
            <a:solidFill>
              <a:srgbClr val="FFFFFF"/>
            </a:solidFill>
          </a:ln>
          <a:effectLst>
            <a:glow rad="127000">
              <a:srgbClr val="B04BFF">
                <a:alpha val="55000"/>
              </a:srgbClr>
            </a:glow>
            <a:outerShdw blurRad="76200" dist="38100" dir="5400000" algn="t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62000" tIns="0" rIns="1164000" bIns="0" rtlCol="0" anchor="ctr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TECHNICAL REPORT &amp; SOURCE CODE</a:t>
            </a:r>
          </a:p>
          <a:p>
            <a:pPr algn="l"/>
            <a:r>
              <a:rPr lang="en-US" sz="900" b="0" dirty="0">
                <a:solidFill>
                  <a:srgbClr val="FFF4E0"/>
                </a:solidFill>
                <a:latin typeface="Arial"/>
                <a:cs typeface="Arial"/>
              </a:rPr>
              <a:t>Architecture, implementation &amp; code · GitHub repository</a:t>
            </a:r>
          </a:p>
        </p:txBody>
      </p:sp>
      <p:sp>
        <p:nvSpPr>
          <p:cNvPr id="951" name="Technical Report Button Icon Disc">
            <a:hlinkClick r:id="rId5" tooltip="Open the SahakarSetu technical report and source code on GitHub"/>
          </p:cNvPr>
          <p:cNvSpPr/>
          <p:nvPr/>
        </p:nvSpPr>
        <p:spPr>
          <a:xfrm>
            <a:off x="3564000" y="5626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endParaRPr lang="en-US" sz="800"/>
          </a:p>
        </p:txBody>
      </p:sp>
      <p:pic>
        <p:nvPicPr>
          <p:cNvPr id="952" name="Technical Report Button Icon" descr="Technical Report Button icon">
            <a:hlinkClick r:id="rId5" tooltip="Open the SahakarSetu technical report and source code on GitHub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300" y="5752360"/>
            <a:ext cx="215280" cy="215280"/>
          </a:xfrm>
          <a:prstGeom prst="rect">
            <a:avLst/>
          </a:prstGeom>
        </p:spPr>
      </p:pic>
      <p:sp>
        <p:nvSpPr>
          <p:cNvPr id="953" name="Technical Report Button Click Tag">
            <a:hlinkClick r:id="rId5" tooltip="Open the SahakarSetu technical report and source code on GitHub"/>
          </p:cNvPr>
          <p:cNvSpPr/>
          <p:nvPr/>
        </p:nvSpPr>
        <p:spPr>
          <a:xfrm>
            <a:off x="7596000" y="5700000"/>
            <a:ext cx="1000000" cy="320000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 w="12700">
            <a:solidFill>
              <a:srgbClr val="FFFF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rgbClr val="0B2545"/>
                </a:solidFill>
                <a:latin typeface="Arial"/>
                <a:cs typeface="Arial"/>
              </a:rPr>
              <a:t>CLICK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31720" y="1500"/>
            <a:ext cx="7358000" cy="106233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1188720"/>
            <a:ext cx="365760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653903"/>
            <a:ext cx="118872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0B2545"/>
                </a:solidFill>
                <a:latin typeface="Arial"/>
              </a:rPr>
              <a:t>Technical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1909936"/>
            <a:ext cx="365760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en-IN" sz="1200" dirty="0"/>
              <a:t>Open-source, established components</a:t>
            </a:r>
            <a:endParaRPr sz="1200" b="0" i="0" dirty="0">
              <a:solidFill>
                <a:srgbClr val="555F6B"/>
              </a:solidFill>
              <a:latin typeface="Arial"/>
            </a:endParaRPr>
          </a:p>
        </p:txBody>
      </p:sp>
      <p:sp>
        <p:nvSpPr>
          <p:cNvPr id="17416" name="TextBox 17415"/>
          <p:cNvSpPr txBox="1"/>
          <p:nvPr/>
        </p:nvSpPr>
        <p:spPr>
          <a:xfrm>
            <a:off x="365760" y="2312271"/>
            <a:ext cx="118872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 dirty="0" smtClean="0">
                <a:solidFill>
                  <a:srgbClr val="0B2545"/>
                </a:solidFill>
                <a:latin typeface="Arial"/>
              </a:rPr>
              <a:t>Operational</a:t>
            </a:r>
            <a:endParaRPr sz="1200" b="1" i="0" dirty="0">
              <a:solidFill>
                <a:srgbClr val="0B2545"/>
              </a:solidFill>
              <a:latin typeface="Arial"/>
            </a:endParaRP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568304"/>
            <a:ext cx="365760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en-US" sz="1200" dirty="0"/>
              <a:t>Proposed pilot pathway through NCCT institutes</a:t>
            </a:r>
            <a:endParaRPr sz="1200" b="0" i="0" dirty="0">
              <a:solidFill>
                <a:srgbClr val="555F6B"/>
              </a:solidFill>
              <a:latin typeface="Arial"/>
            </a:endParaRPr>
          </a:p>
        </p:txBody>
      </p:sp>
      <p:sp>
        <p:nvSpPr>
          <p:cNvPr id="17421" name="TextBox 17420"/>
          <p:cNvSpPr txBox="1"/>
          <p:nvPr/>
        </p:nvSpPr>
        <p:spPr>
          <a:xfrm>
            <a:off x="365760" y="2970639"/>
            <a:ext cx="118872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0B2545"/>
                </a:solidFill>
                <a:latin typeface="Arial"/>
              </a:rPr>
              <a:t>Economic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65760" y="3226671"/>
            <a:ext cx="365760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en-IN" sz="1200" dirty="0"/>
              <a:t>Indicative prototype deployment cost</a:t>
            </a:r>
            <a:endParaRPr sz="1200" b="0" i="0" dirty="0">
              <a:solidFill>
                <a:srgbClr val="555F6B"/>
              </a:solidFill>
              <a:latin typeface="Arial"/>
            </a:endParaRPr>
          </a:p>
        </p:txBody>
      </p:sp>
      <p:sp>
        <p:nvSpPr>
          <p:cNvPr id="17426" name="TextBox 17425"/>
          <p:cNvSpPr txBox="1"/>
          <p:nvPr/>
        </p:nvSpPr>
        <p:spPr>
          <a:xfrm>
            <a:off x="365760" y="3629006"/>
            <a:ext cx="118872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 dirty="0">
                <a:solidFill>
                  <a:srgbClr val="0B2545"/>
                </a:solidFill>
                <a:latin typeface="Arial"/>
              </a:rPr>
              <a:t>Legal</a:t>
            </a:r>
            <a:r>
              <a:rPr sz="1100" b="1" i="0" dirty="0">
                <a:solidFill>
                  <a:srgbClr val="0B2545"/>
                </a:solidFill>
                <a:latin typeface="Arial"/>
              </a:rPr>
              <a:t> / Policy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65760" y="3885039"/>
            <a:ext cx="365760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lang="en-IN" sz="1200" dirty="0"/>
              <a:t>DPDP-aligned privacy design</a:t>
            </a:r>
            <a:endParaRPr sz="1200" b="0" i="0" dirty="0">
              <a:solidFill>
                <a:srgbClr val="555F6B"/>
              </a:solidFill>
              <a:latin typeface="Arial"/>
            </a:endParaRPr>
          </a:p>
        </p:txBody>
      </p:sp>
      <p:sp>
        <p:nvSpPr>
          <p:cNvPr id="17431" name="Rounded Rectangle 17430"/>
          <p:cNvSpPr/>
          <p:nvPr/>
        </p:nvSpPr>
        <p:spPr>
          <a:xfrm>
            <a:off x="365760" y="4297680"/>
            <a:ext cx="3657600" cy="566928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0B2545"/>
                </a:solidFill>
                <a:latin typeface="Arial"/>
              </a:rPr>
              <a:t>Est. cost: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Edge Box ≈ ₹25k, face terminal ≈ ₹15k per unit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4956048"/>
            <a:ext cx="3657600" cy="914082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Scale – NCCT FY 2023-24</a:t>
            </a:r>
            <a:r>
              <a:rPr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3,759 </a:t>
            </a:r>
            <a:r>
              <a:rPr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programmes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2,27,177 </a:t>
            </a:r>
            <a:r>
              <a:rPr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participants</a:t>
            </a:r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 institutes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33" name="Rounded Rectangle 17432"/>
          <p:cNvSpPr/>
          <p:nvPr/>
        </p:nvSpPr>
        <p:spPr>
          <a:xfrm>
            <a:off x="4206240" y="1188720"/>
            <a:ext cx="7616952" cy="310896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Potential challenges and risks &amp; Strategies for overcoming these challenges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206240" y="16002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Low / no internet at PACS &amp; ICMs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7607808" y="1874519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7900416" y="160020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>
                <a:solidFill>
                  <a:srgbClr val="0B2545"/>
                </a:solidFill>
                <a:latin typeface="Arial"/>
              </a:rPr>
              <a:t>Offline-first Edge Box; auto-sync when online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206240" y="224028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Low digital literacy of trainees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7607808" y="2514600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7900416" y="224028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>
                <a:solidFill>
                  <a:srgbClr val="0B2545"/>
                </a:solidFill>
                <a:latin typeface="Arial"/>
              </a:rPr>
              <a:t>Voice-first UI, local language, trainer-led first session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206240" y="288036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Face-data privacy concerns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7607808" y="3154680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7900416" y="288036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 dirty="0" smtClean="0">
                <a:solidFill>
                  <a:srgbClr val="0B2545"/>
                </a:solidFill>
                <a:latin typeface="Arial"/>
              </a:rPr>
              <a:t>Consent</a:t>
            </a:r>
            <a:r>
              <a:rPr lang="en-US" sz="1100" b="0" i="0" dirty="0" smtClean="0">
                <a:solidFill>
                  <a:srgbClr val="0B2545"/>
                </a:solidFill>
                <a:latin typeface="Arial"/>
              </a:rPr>
              <a:t> + </a:t>
            </a:r>
            <a:r>
              <a:rPr lang="en-US" sz="1100" dirty="0" smtClean="0">
                <a:solidFill>
                  <a:srgbClr val="0B2545"/>
                </a:solidFill>
                <a:latin typeface="Arial"/>
              </a:rPr>
              <a:t>minimal retention + secure biometric templates + </a:t>
            </a:r>
            <a:r>
              <a:rPr sz="1100" b="0" i="0" dirty="0" smtClean="0">
                <a:solidFill>
                  <a:srgbClr val="0B2545"/>
                </a:solidFill>
                <a:latin typeface="Arial"/>
              </a:rPr>
              <a:t>QR fallback</a:t>
            </a:r>
            <a:r>
              <a:rPr lang="en-US" sz="1100" b="0" i="0" dirty="0" smtClean="0">
                <a:solidFill>
                  <a:srgbClr val="0B2545"/>
                </a:solidFill>
                <a:latin typeface="Arial"/>
              </a:rPr>
              <a:t> + </a:t>
            </a:r>
            <a:r>
              <a:rPr sz="1100" b="0" i="0" dirty="0" smtClean="0">
                <a:solidFill>
                  <a:srgbClr val="0B2545"/>
                </a:solidFill>
                <a:latin typeface="Arial"/>
              </a:rPr>
              <a:t>audit</a:t>
            </a:r>
            <a:r>
              <a:rPr lang="en-US" sz="1100" b="0" i="0" dirty="0" smtClean="0">
                <a:solidFill>
                  <a:srgbClr val="0B2545"/>
                </a:solidFill>
                <a:latin typeface="Arial"/>
              </a:rPr>
              <a:t> logs</a:t>
            </a:r>
            <a:endParaRPr sz="1100" b="0" i="0" dirty="0">
              <a:solidFill>
                <a:srgbClr val="0B2545"/>
              </a:solidFill>
              <a:latin typeface="Arial"/>
            </a:endParaRPr>
          </a:p>
        </p:txBody>
      </p:sp>
      <p:sp>
        <p:nvSpPr>
          <p:cNvPr id="17443" name="Rounded Rectangle 17442"/>
          <p:cNvSpPr/>
          <p:nvPr/>
        </p:nvSpPr>
        <p:spPr>
          <a:xfrm>
            <a:off x="4206240" y="352044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 dirty="0">
                <a:solidFill>
                  <a:srgbClr val="C0392B"/>
                </a:solidFill>
                <a:latin typeface="Arial"/>
              </a:rPr>
              <a:t>Staff resistance &amp; legacy paper data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7607808" y="3794760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7900416" y="352044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 dirty="0">
                <a:solidFill>
                  <a:srgbClr val="0B2545"/>
                </a:solidFill>
                <a:latin typeface="Arial"/>
              </a:rPr>
              <a:t>Train-the-trainer, bulk Excel import, phased rollout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4206240" y="416052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 dirty="0">
                <a:solidFill>
                  <a:srgbClr val="C0392B"/>
                </a:solidFill>
                <a:latin typeface="Arial"/>
              </a:rPr>
              <a:t>Proxy attendance / fake certificates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7607808" y="4434840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7900416" y="416052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>
                <a:solidFill>
                  <a:srgbClr val="0B2545"/>
                </a:solidFill>
                <a:latin typeface="Arial"/>
              </a:rPr>
              <a:t>Liveness check + rotating QR; signed, verifiable passports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206240" y="480060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 dirty="0">
                <a:solidFill>
                  <a:srgbClr val="C0392B"/>
                </a:solidFill>
                <a:latin typeface="Arial"/>
              </a:rPr>
              <a:t>Hardware cost &amp; upkeep at scale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7607808" y="5074920"/>
            <a:ext cx="274319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Rounded Rectangle 17450"/>
          <p:cNvSpPr/>
          <p:nvPr/>
        </p:nvSpPr>
        <p:spPr>
          <a:xfrm>
            <a:off x="7900416" y="4800600"/>
            <a:ext cx="3922776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 i="0" dirty="0">
                <a:solidFill>
                  <a:srgbClr val="0B2545"/>
                </a:solidFill>
                <a:latin typeface="Arial"/>
              </a:rPr>
              <a:t>Shared Edge Boxes, </a:t>
            </a:r>
            <a:r>
              <a:rPr lang="en-US" sz="1100" b="0" i="0" dirty="0" smtClean="0">
                <a:solidFill>
                  <a:srgbClr val="0B2545"/>
                </a:solidFill>
                <a:latin typeface="Arial"/>
              </a:rPr>
              <a:t>potential </a:t>
            </a:r>
            <a:r>
              <a:rPr sz="1100" b="0" i="0" dirty="0" smtClean="0">
                <a:solidFill>
                  <a:srgbClr val="0B2545"/>
                </a:solidFill>
                <a:latin typeface="Arial"/>
              </a:rPr>
              <a:t>CSC </a:t>
            </a:r>
            <a:r>
              <a:rPr sz="1100" b="0" i="0" dirty="0">
                <a:solidFill>
                  <a:srgbClr val="0B2545"/>
                </a:solidFill>
                <a:latin typeface="Arial"/>
              </a:rPr>
              <a:t>partners, remote monitoring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206240" y="5486400"/>
            <a:ext cx="7616952" cy="256032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00" b="1" i="0" dirty="0" smtClean="0">
                <a:solidFill>
                  <a:srgbClr val="FFFFFF"/>
                </a:solidFill>
                <a:latin typeface="Arial"/>
              </a:rPr>
              <a:t>Proposed </a:t>
            </a:r>
            <a:r>
              <a:rPr sz="1100" b="1" i="0" dirty="0" smtClean="0">
                <a:solidFill>
                  <a:srgbClr val="FFFFFF"/>
                </a:solidFill>
                <a:latin typeface="Arial"/>
              </a:rPr>
              <a:t>Phased rollout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53" name="Rounded Rectangle 17452"/>
          <p:cNvSpPr/>
          <p:nvPr/>
        </p:nvSpPr>
        <p:spPr>
          <a:xfrm>
            <a:off x="4206240" y="5779008"/>
            <a:ext cx="1847088" cy="457200"/>
          </a:xfrm>
          <a:prstGeom prst="roundRect">
            <a:avLst>
              <a:gd name="adj" fmla="val 1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0070C0"/>
                </a:solidFill>
                <a:latin typeface="Arial"/>
              </a:rPr>
              <a:t>P1  0-3 </a:t>
            </a:r>
            <a:r>
              <a:rPr sz="1000" b="1" i="0" dirty="0" err="1">
                <a:solidFill>
                  <a:srgbClr val="0070C0"/>
                </a:solidFill>
                <a:latin typeface="Arial"/>
              </a:rPr>
              <a:t>mo</a:t>
            </a:r>
            <a:r>
              <a:rPr sz="1000" b="1" i="0" dirty="0">
                <a:solidFill>
                  <a:srgbClr val="0070C0"/>
                </a:solidFill>
                <a:latin typeface="Arial"/>
              </a:rPr>
              <a:t> </a:t>
            </a:r>
            <a:r>
              <a:rPr sz="1000" b="1" i="0" dirty="0" smtClean="0">
                <a:solidFill>
                  <a:srgbClr val="0070C0"/>
                </a:solidFill>
                <a:latin typeface="Arial"/>
              </a:rPr>
              <a:t> </a:t>
            </a:r>
            <a:r>
              <a:rPr lang="en-US" sz="1000" dirty="0" smtClean="0">
                <a:solidFill>
                  <a:srgbClr val="0B2545"/>
                </a:solidFill>
                <a:latin typeface="Arial"/>
              </a:rPr>
              <a:t>Proposed pilot</a:t>
            </a:r>
            <a:r>
              <a:rPr sz="1000" b="0" i="0" dirty="0" smtClean="0">
                <a:solidFill>
                  <a:srgbClr val="0B2545"/>
                </a:solidFill>
                <a:latin typeface="Arial"/>
              </a:rPr>
              <a:t>: </a:t>
            </a:r>
            <a:r>
              <a:rPr sz="1000" b="0" i="0" dirty="0">
                <a:solidFill>
                  <a:srgbClr val="0B2545"/>
                </a:solidFill>
                <a:latin typeface="Arial"/>
              </a:rPr>
              <a:t>VAMNICOM + 2 RICMs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126479" y="5779008"/>
            <a:ext cx="1847088" cy="457200"/>
          </a:xfrm>
          <a:prstGeom prst="roundRect">
            <a:avLst>
              <a:gd name="adj" fmla="val 1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0070C0"/>
                </a:solidFill>
                <a:latin typeface="Arial"/>
              </a:rPr>
              <a:t>P2  3-9 </a:t>
            </a:r>
            <a:r>
              <a:rPr sz="1000" b="1" i="0" dirty="0" err="1">
                <a:solidFill>
                  <a:srgbClr val="0070C0"/>
                </a:solidFill>
                <a:latin typeface="Arial"/>
              </a:rPr>
              <a:t>mo</a:t>
            </a:r>
            <a:r>
              <a:rPr sz="1000" b="1" i="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sz="1000" dirty="0">
                <a:solidFill>
                  <a:srgbClr val="0B2545"/>
                </a:solidFill>
              </a:rPr>
              <a:t>Proposed </a:t>
            </a:r>
            <a:r>
              <a:rPr lang="en-US" sz="1000" dirty="0" smtClean="0">
                <a:solidFill>
                  <a:srgbClr val="0B2545"/>
                </a:solidFill>
              </a:rPr>
              <a:t>scale-up: </a:t>
            </a:r>
            <a:r>
              <a:rPr sz="1000" b="0" i="0" dirty="0" smtClean="0">
                <a:solidFill>
                  <a:srgbClr val="0B2545"/>
                </a:solidFill>
                <a:latin typeface="Arial"/>
              </a:rPr>
              <a:t>5 </a:t>
            </a:r>
            <a:r>
              <a:rPr sz="1000" b="0" i="0" dirty="0">
                <a:solidFill>
                  <a:srgbClr val="0B2545"/>
                </a:solidFill>
                <a:latin typeface="Arial"/>
              </a:rPr>
              <a:t>RICMs + 14 ICMs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046719" y="5779008"/>
            <a:ext cx="1847088" cy="457200"/>
          </a:xfrm>
          <a:prstGeom prst="roundRect">
            <a:avLst>
              <a:gd name="adj" fmla="val 1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0070C0"/>
                </a:solidFill>
                <a:latin typeface="Arial"/>
              </a:rPr>
              <a:t>P3  9-18 </a:t>
            </a:r>
            <a:r>
              <a:rPr sz="1000" b="1" i="0" dirty="0" err="1">
                <a:solidFill>
                  <a:srgbClr val="0070C0"/>
                </a:solidFill>
                <a:latin typeface="Arial"/>
              </a:rPr>
              <a:t>mo</a:t>
            </a:r>
            <a:r>
              <a:rPr sz="1000" b="1" i="0" dirty="0">
                <a:solidFill>
                  <a:srgbClr val="0070C0"/>
                </a:solidFill>
                <a:latin typeface="Arial"/>
              </a:rPr>
              <a:t> </a:t>
            </a:r>
            <a:r>
              <a:rPr lang="en-US" sz="1000" dirty="0">
                <a:solidFill>
                  <a:srgbClr val="0B2545"/>
                </a:solidFill>
              </a:rPr>
              <a:t>Proposed </a:t>
            </a:r>
            <a:r>
              <a:rPr sz="1000" b="0" i="0" dirty="0" smtClean="0">
                <a:solidFill>
                  <a:srgbClr val="0B2545"/>
                </a:solidFill>
                <a:latin typeface="Arial"/>
              </a:rPr>
              <a:t>PACS</a:t>
            </a:r>
            <a:r>
              <a:rPr sz="1000" b="0" i="0" dirty="0">
                <a:solidFill>
                  <a:srgbClr val="0B2545"/>
                </a:solidFill>
                <a:latin typeface="Arial"/>
              </a:rPr>
              <a:t>, dairy, SHG outreach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9966959" y="5779008"/>
            <a:ext cx="1847088" cy="457200"/>
          </a:xfrm>
          <a:prstGeom prst="roundRect">
            <a:avLst>
              <a:gd name="adj" fmla="val 1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 dirty="0">
                <a:solidFill>
                  <a:srgbClr val="0070C0"/>
                </a:solidFill>
                <a:latin typeface="Arial"/>
              </a:rPr>
              <a:t>P4  18 </a:t>
            </a:r>
            <a:r>
              <a:rPr sz="1000" b="1" i="0" dirty="0" err="1">
                <a:solidFill>
                  <a:srgbClr val="0070C0"/>
                </a:solidFill>
                <a:latin typeface="Arial"/>
              </a:rPr>
              <a:t>mo</a:t>
            </a:r>
            <a:r>
              <a:rPr sz="1000" b="1" i="0" dirty="0">
                <a:solidFill>
                  <a:srgbClr val="0070C0"/>
                </a:solidFill>
                <a:latin typeface="Arial"/>
              </a:rPr>
              <a:t>+ </a:t>
            </a:r>
            <a:r>
              <a:rPr lang="en-US" sz="1000" dirty="0">
                <a:solidFill>
                  <a:srgbClr val="0B2545"/>
                </a:solidFill>
              </a:rPr>
              <a:t>Proposed </a:t>
            </a:r>
            <a:r>
              <a:rPr lang="en-US" sz="1000" dirty="0" smtClean="0">
                <a:solidFill>
                  <a:srgbClr val="0B2545"/>
                </a:solidFill>
                <a:latin typeface="Arial"/>
              </a:rPr>
              <a:t>Employment</a:t>
            </a:r>
            <a:r>
              <a:rPr sz="1000" b="0" i="0" dirty="0" smtClean="0">
                <a:solidFill>
                  <a:srgbClr val="0B2545"/>
                </a:solidFill>
                <a:latin typeface="Arial"/>
              </a:rPr>
              <a:t> </a:t>
            </a:r>
            <a:r>
              <a:rPr sz="1000" b="0" i="0" dirty="0">
                <a:solidFill>
                  <a:srgbClr val="0B2545"/>
                </a:solidFill>
                <a:latin typeface="Arial"/>
              </a:rPr>
              <a:t>&amp; startup network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7" name="Oval 56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29000"/>
            <a:ext cx="20251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Code2Scale</a:t>
            </a:r>
          </a:p>
          <a:p>
            <a:pPr algn="ctr"/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053453" y="1568580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✓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0422" y="226235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6681" y="291054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0875" y="355507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670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31720" y="1500"/>
            <a:ext cx="7358000" cy="106233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5" name="Oval 44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60" y="129000"/>
            <a:ext cx="202510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Code2Scale</a:t>
            </a:r>
          </a:p>
          <a:p>
            <a:pPr algn="ctr"/>
            <a:endParaRPr lang="en-IN" dirty="0"/>
          </a:p>
        </p:txBody>
      </p:sp>
      <p:sp>
        <p:nvSpPr>
          <p:cNvPr id="301" name="Header Audience"/>
          <p:cNvSpPr/>
          <p:nvPr/>
        </p:nvSpPr>
        <p:spPr>
          <a:xfrm>
            <a:off x="365760" y="1188720"/>
            <a:ext cx="6000000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Potential impact on the target audience</a:t>
            </a:r>
          </a:p>
        </p:txBody>
      </p:sp>
      <p:sp>
        <p:nvSpPr>
          <p:cNvPr id="302" name="Header Benefits"/>
          <p:cNvSpPr/>
          <p:nvPr/>
        </p:nvSpPr>
        <p:spPr>
          <a:xfrm>
            <a:off x="6555760" y="1188720"/>
            <a:ext cx="5267432" cy="310896"/>
          </a:xfrm>
          <a:prstGeom prst="roundRect">
            <a:avLst>
              <a:gd name="adj" fmla="val 30000"/>
            </a:avLst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Benefits of the solution (social, economic, environmental)</a:t>
            </a:r>
          </a:p>
        </p:txBody>
      </p:sp>
      <p:sp>
        <p:nvSpPr>
          <p:cNvPr id="303" name="Audience Card 1"/>
          <p:cNvSpPr/>
          <p:nvPr/>
        </p:nvSpPr>
        <p:spPr>
          <a:xfrm>
            <a:off x="365760" y="1570000"/>
            <a:ext cx="6000000" cy="88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04" name="Audience Number 1"/>
          <p:cNvSpPr/>
          <p:nvPr/>
        </p:nvSpPr>
        <p:spPr>
          <a:xfrm>
            <a:off x="465760" y="1820000"/>
            <a:ext cx="380000" cy="38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05" name="Audience Name 1"/>
          <p:cNvSpPr txBox="1"/>
          <p:nvPr/>
        </p:nvSpPr>
        <p:spPr>
          <a:xfrm>
            <a:off x="965760" y="1615000"/>
            <a:ext cx="5300000" cy="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200" b="1" i="0" dirty="0">
                <a:solidFill>
                  <a:srgbClr val="0B2545"/>
                </a:solidFill>
                <a:latin typeface="Arial"/>
                <a:cs typeface="Arial"/>
              </a:rPr>
              <a:t>Rural Youth</a:t>
            </a:r>
          </a:p>
        </p:txBody>
      </p:sp>
      <p:sp>
        <p:nvSpPr>
          <p:cNvPr id="306" name="Today 1"/>
          <p:cNvSpPr/>
          <p:nvPr/>
        </p:nvSpPr>
        <p:spPr>
          <a:xfrm>
            <a:off x="965760" y="1890000"/>
            <a:ext cx="1950000" cy="4900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00" b="1" i="0" dirty="0" smtClean="0">
                <a:solidFill>
                  <a:srgbClr val="C0392B"/>
                </a:solidFill>
                <a:latin typeface="Arial"/>
                <a:cs typeface="Arial"/>
              </a:rPr>
              <a:t>CURRENT CHALLENGE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Internet-dependent learning </a:t>
            </a:r>
            <a:r>
              <a:rPr lang="en-US" sz="850" dirty="0">
                <a:solidFill>
                  <a:srgbClr val="0B2545"/>
                </a:solidFill>
                <a:cs typeface="Arial"/>
              </a:rPr>
              <a:t>• </a:t>
            </a:r>
            <a:r>
              <a:rPr lang="en-US" sz="850" dirty="0" smtClean="0">
                <a:solidFill>
                  <a:srgbClr val="C0392B"/>
                </a:solidFill>
                <a:latin typeface="Arial"/>
                <a:cs typeface="Arial"/>
              </a:rPr>
              <a:t>Limited</a:t>
            </a: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lang="en-US" sz="850" dirty="0" smtClean="0">
                <a:solidFill>
                  <a:srgbClr val="C0392B"/>
                </a:solidFill>
                <a:latin typeface="Arial"/>
                <a:cs typeface="Arial"/>
              </a:rPr>
              <a:t>employment</a:t>
            </a: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 </a:t>
            </a:r>
            <a:r>
              <a:rPr lang="en-US" sz="850" b="0" i="0" dirty="0">
                <a:solidFill>
                  <a:srgbClr val="C0392B"/>
                </a:solidFill>
                <a:latin typeface="Arial"/>
                <a:cs typeface="Arial"/>
              </a:rPr>
              <a:t>linkage</a:t>
            </a:r>
          </a:p>
        </p:txBody>
      </p:sp>
      <p:sp>
        <p:nvSpPr>
          <p:cNvPr id="307" name="Flow Arrow 1"/>
          <p:cNvSpPr/>
          <p:nvPr/>
        </p:nvSpPr>
        <p:spPr>
          <a:xfrm>
            <a:off x="2965760" y="2030000"/>
            <a:ext cx="27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08" name="Impact 1"/>
          <p:cNvSpPr/>
          <p:nvPr/>
        </p:nvSpPr>
        <p:spPr>
          <a:xfrm>
            <a:off x="3285760" y="1890000"/>
            <a:ext cx="2980000" cy="4900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00" b="1" i="0" dirty="0">
                <a:solidFill>
                  <a:srgbClr val="2E9B5B"/>
                </a:solidFill>
                <a:latin typeface="Arial"/>
                <a:cs typeface="Arial"/>
              </a:rPr>
              <a:t>WITH SAHAKARSETU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Offline learning • Verified Skill Passport • </a:t>
            </a:r>
            <a:r>
              <a:rPr lang="en-US" sz="850" dirty="0" smtClean="0">
                <a:solidFill>
                  <a:srgbClr val="0B2545"/>
                </a:solidFill>
                <a:latin typeface="Arial"/>
                <a:cs typeface="Arial"/>
              </a:rPr>
              <a:t>Employment</a:t>
            </a:r>
            <a:r>
              <a:rPr lang="en-US" sz="850" b="0" i="0" dirty="0" smtClean="0">
                <a:solidFill>
                  <a:srgbClr val="0B2545"/>
                </a:solidFill>
                <a:latin typeface="Arial"/>
                <a:cs typeface="Arial"/>
              </a:rPr>
              <a:t> </a:t>
            </a: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&amp; </a:t>
            </a:r>
            <a:r>
              <a:rPr lang="en-US" sz="850" dirty="0" smtClean="0">
                <a:solidFill>
                  <a:srgbClr val="0B2545"/>
                </a:solidFill>
                <a:latin typeface="Arial"/>
                <a:cs typeface="Arial"/>
              </a:rPr>
              <a:t>Entrepreneurship opportunities</a:t>
            </a:r>
            <a:endParaRPr lang="en-US" sz="850" b="0" i="0" dirty="0">
              <a:solidFill>
                <a:srgbClr val="0B2545"/>
              </a:solidFill>
              <a:latin typeface="Arial"/>
              <a:cs typeface="Arial"/>
            </a:endParaRPr>
          </a:p>
        </p:txBody>
      </p:sp>
      <p:sp>
        <p:nvSpPr>
          <p:cNvPr id="309" name="Audience Card 2"/>
          <p:cNvSpPr/>
          <p:nvPr/>
        </p:nvSpPr>
        <p:spPr>
          <a:xfrm>
            <a:off x="365760" y="2510000"/>
            <a:ext cx="6000000" cy="88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0" name="Audience Number 2"/>
          <p:cNvSpPr/>
          <p:nvPr/>
        </p:nvSpPr>
        <p:spPr>
          <a:xfrm>
            <a:off x="465760" y="2760000"/>
            <a:ext cx="380000" cy="380000"/>
          </a:xfrm>
          <a:prstGeom prst="ellipse">
            <a:avLst/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11" name="Audience Name 2"/>
          <p:cNvSpPr txBox="1"/>
          <p:nvPr/>
        </p:nvSpPr>
        <p:spPr>
          <a:xfrm>
            <a:off x="965760" y="2555000"/>
            <a:ext cx="5300000" cy="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200" b="1" i="0" dirty="0">
                <a:solidFill>
                  <a:srgbClr val="0B2545"/>
                </a:solidFill>
                <a:latin typeface="Arial"/>
                <a:cs typeface="Arial"/>
              </a:rPr>
              <a:t>PACS / SHG Members</a:t>
            </a:r>
          </a:p>
        </p:txBody>
      </p:sp>
      <p:sp>
        <p:nvSpPr>
          <p:cNvPr id="312" name="Today 2"/>
          <p:cNvSpPr/>
          <p:nvPr/>
        </p:nvSpPr>
        <p:spPr>
          <a:xfrm>
            <a:off x="965760" y="2830000"/>
            <a:ext cx="1950000" cy="4900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700" b="1" dirty="0">
                <a:solidFill>
                  <a:srgbClr val="C0392B"/>
                </a:solidFill>
                <a:cs typeface="Arial"/>
              </a:rPr>
              <a:t>CURRENT CHALLENGE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Limited local-language support </a:t>
            </a:r>
            <a:r>
              <a:rPr lang="en-US" sz="850" dirty="0">
                <a:solidFill>
                  <a:srgbClr val="0B2545"/>
                </a:solidFill>
                <a:cs typeface="Arial"/>
              </a:rPr>
              <a:t>• </a:t>
            </a:r>
            <a:r>
              <a:rPr lang="en-US" sz="850" dirty="0" smtClean="0">
                <a:solidFill>
                  <a:srgbClr val="0B2545"/>
                </a:solidFill>
                <a:cs typeface="Arial"/>
              </a:rPr>
              <a:t> </a:t>
            </a: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Distant training access</a:t>
            </a:r>
            <a:endParaRPr lang="en-US" sz="850" b="0" i="0" dirty="0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313" name="Flow Arrow 2"/>
          <p:cNvSpPr/>
          <p:nvPr/>
        </p:nvSpPr>
        <p:spPr>
          <a:xfrm>
            <a:off x="2965760" y="2970000"/>
            <a:ext cx="27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4" name="Impact 2"/>
          <p:cNvSpPr/>
          <p:nvPr/>
        </p:nvSpPr>
        <p:spPr>
          <a:xfrm>
            <a:off x="3285760" y="2830000"/>
            <a:ext cx="2980000" cy="4900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00" b="1" i="0" dirty="0">
                <a:solidFill>
                  <a:srgbClr val="2E9B5B"/>
                </a:solidFill>
                <a:latin typeface="Arial"/>
                <a:cs typeface="Arial"/>
              </a:rPr>
              <a:t>WITH SAHAKARSETU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Local-language, voice-first learning </a:t>
            </a:r>
            <a:r>
              <a:rPr lang="en-US" sz="850" b="0" i="0" dirty="0" smtClean="0">
                <a:solidFill>
                  <a:srgbClr val="0B2545"/>
                </a:solidFill>
                <a:latin typeface="Arial"/>
                <a:cs typeface="Arial"/>
              </a:rPr>
              <a:t>• Access through nearby learning hubs</a:t>
            </a:r>
            <a:endParaRPr lang="en-US" sz="850" b="0" i="0" dirty="0">
              <a:solidFill>
                <a:srgbClr val="0B2545"/>
              </a:solidFill>
              <a:latin typeface="Arial"/>
              <a:cs typeface="Arial"/>
            </a:endParaRPr>
          </a:p>
        </p:txBody>
      </p:sp>
      <p:sp>
        <p:nvSpPr>
          <p:cNvPr id="315" name="Audience Card 3"/>
          <p:cNvSpPr/>
          <p:nvPr/>
        </p:nvSpPr>
        <p:spPr>
          <a:xfrm>
            <a:off x="365760" y="3450000"/>
            <a:ext cx="6000000" cy="88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6" name="Audience Number 3"/>
          <p:cNvSpPr/>
          <p:nvPr/>
        </p:nvSpPr>
        <p:spPr>
          <a:xfrm>
            <a:off x="465760" y="3700000"/>
            <a:ext cx="380000" cy="380000"/>
          </a:xfrm>
          <a:prstGeom prst="ellipse">
            <a:avLst/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17" name="Audience Name 3"/>
          <p:cNvSpPr txBox="1"/>
          <p:nvPr/>
        </p:nvSpPr>
        <p:spPr>
          <a:xfrm>
            <a:off x="965760" y="3495000"/>
            <a:ext cx="5300000" cy="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200" b="1" i="0" dirty="0">
                <a:solidFill>
                  <a:srgbClr val="0B2545"/>
                </a:solidFill>
                <a:latin typeface="Arial"/>
                <a:cs typeface="Arial"/>
              </a:rPr>
              <a:t>NCCT Institutes &amp; Trainers</a:t>
            </a:r>
          </a:p>
        </p:txBody>
      </p:sp>
      <p:sp>
        <p:nvSpPr>
          <p:cNvPr id="318" name="Today 3"/>
          <p:cNvSpPr/>
          <p:nvPr/>
        </p:nvSpPr>
        <p:spPr>
          <a:xfrm>
            <a:off x="965760" y="3770000"/>
            <a:ext cx="1950000" cy="4900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700" b="1" dirty="0">
                <a:solidFill>
                  <a:srgbClr val="C0392B"/>
                </a:solidFill>
                <a:cs typeface="Arial"/>
              </a:rPr>
              <a:t>CURRENT CHALLENGE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Paper/Manual attendance </a:t>
            </a:r>
            <a:r>
              <a:rPr lang="en-US" sz="850" dirty="0">
                <a:solidFill>
                  <a:srgbClr val="0B2545"/>
                </a:solidFill>
                <a:cs typeface="Arial"/>
              </a:rPr>
              <a:t>• </a:t>
            </a:r>
            <a:r>
              <a:rPr lang="en-US" sz="850" b="0" i="0" dirty="0" smtClean="0">
                <a:solidFill>
                  <a:srgbClr val="C0392B"/>
                </a:solidFill>
                <a:latin typeface="Arial"/>
                <a:cs typeface="Arial"/>
              </a:rPr>
              <a:t>Limited centralized tracking</a:t>
            </a:r>
            <a:endParaRPr lang="en-US" sz="850" dirty="0" smtClean="0">
              <a:solidFill>
                <a:srgbClr val="0B2545"/>
              </a:solidFill>
              <a:cs typeface="Arial"/>
            </a:endParaRPr>
          </a:p>
        </p:txBody>
      </p:sp>
      <p:sp>
        <p:nvSpPr>
          <p:cNvPr id="319" name="Flow Arrow 3"/>
          <p:cNvSpPr/>
          <p:nvPr/>
        </p:nvSpPr>
        <p:spPr>
          <a:xfrm>
            <a:off x="2965760" y="3910000"/>
            <a:ext cx="27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0" name="Impact 3"/>
          <p:cNvSpPr/>
          <p:nvPr/>
        </p:nvSpPr>
        <p:spPr>
          <a:xfrm>
            <a:off x="3285760" y="3770000"/>
            <a:ext cx="2980000" cy="4900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00" b="1" i="0" dirty="0">
                <a:solidFill>
                  <a:srgbClr val="2E9B5B"/>
                </a:solidFill>
                <a:latin typeface="Arial"/>
                <a:cs typeface="Arial"/>
              </a:rPr>
              <a:t>WITH SAHAKARSETU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Centralized ERP • Face + QR attendance • </a:t>
            </a:r>
            <a:r>
              <a:rPr lang="en-US" sz="850" dirty="0" smtClean="0">
                <a:solidFill>
                  <a:srgbClr val="0B2545"/>
                </a:solidFill>
                <a:latin typeface="Arial"/>
                <a:cs typeface="Arial"/>
              </a:rPr>
              <a:t>Centralized</a:t>
            </a:r>
            <a:r>
              <a:rPr lang="en-US" sz="850" b="0" i="0" dirty="0" smtClean="0">
                <a:solidFill>
                  <a:srgbClr val="0B2545"/>
                </a:solidFill>
                <a:latin typeface="Arial"/>
                <a:cs typeface="Arial"/>
              </a:rPr>
              <a:t> </a:t>
            </a: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trainee tracking</a:t>
            </a:r>
          </a:p>
        </p:txBody>
      </p:sp>
      <p:sp>
        <p:nvSpPr>
          <p:cNvPr id="321" name="Audience Card 4"/>
          <p:cNvSpPr/>
          <p:nvPr/>
        </p:nvSpPr>
        <p:spPr>
          <a:xfrm>
            <a:off x="365760" y="4390000"/>
            <a:ext cx="6000000" cy="88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2" name="Audience Number 4"/>
          <p:cNvSpPr/>
          <p:nvPr/>
        </p:nvSpPr>
        <p:spPr>
          <a:xfrm>
            <a:off x="465760" y="4640000"/>
            <a:ext cx="380000" cy="38000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3" name="Audience Name 4"/>
          <p:cNvSpPr txBox="1"/>
          <p:nvPr/>
        </p:nvSpPr>
        <p:spPr>
          <a:xfrm>
            <a:off x="965760" y="4435000"/>
            <a:ext cx="5300000" cy="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200" b="1" i="0" dirty="0">
                <a:solidFill>
                  <a:srgbClr val="0B2545"/>
                </a:solidFill>
                <a:latin typeface="Arial"/>
                <a:cs typeface="Arial"/>
              </a:rPr>
              <a:t>Employers &amp; Cooperatives</a:t>
            </a:r>
          </a:p>
        </p:txBody>
      </p:sp>
      <p:sp>
        <p:nvSpPr>
          <p:cNvPr id="324" name="Today 4"/>
          <p:cNvSpPr/>
          <p:nvPr/>
        </p:nvSpPr>
        <p:spPr>
          <a:xfrm>
            <a:off x="965760" y="4710000"/>
            <a:ext cx="1950000" cy="4900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sz="700" b="1" dirty="0">
                <a:solidFill>
                  <a:srgbClr val="C0392B"/>
                </a:solidFill>
                <a:cs typeface="Arial"/>
              </a:rPr>
              <a:t>CURRENT CHALLENGE</a:t>
            </a:r>
          </a:p>
          <a:p>
            <a:pPr algn="ctr">
              <a:spcBef>
                <a:spcPts val="100"/>
              </a:spcBef>
            </a:pPr>
            <a:r>
              <a:rPr lang="en-US" sz="850" dirty="0" smtClean="0">
                <a:solidFill>
                  <a:srgbClr val="C0392B"/>
                </a:solidFill>
                <a:latin typeface="Arial"/>
                <a:cs typeface="Arial"/>
              </a:rPr>
              <a:t>Manual certificate verification </a:t>
            </a:r>
            <a:r>
              <a:rPr lang="en-US" sz="850" dirty="0">
                <a:solidFill>
                  <a:srgbClr val="0B2545"/>
                </a:solidFill>
                <a:cs typeface="Arial"/>
              </a:rPr>
              <a:t>• </a:t>
            </a:r>
            <a:r>
              <a:rPr lang="en-US" sz="850" dirty="0" smtClean="0">
                <a:solidFill>
                  <a:srgbClr val="C0392B"/>
                </a:solidFill>
                <a:latin typeface="Arial"/>
                <a:cs typeface="Arial"/>
              </a:rPr>
              <a:t>Limited skill visibility</a:t>
            </a:r>
            <a:endParaRPr lang="en-US" sz="850" b="0" i="0" dirty="0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325" name="Flow Arrow 4"/>
          <p:cNvSpPr/>
          <p:nvPr/>
        </p:nvSpPr>
        <p:spPr>
          <a:xfrm>
            <a:off x="2965760" y="4850000"/>
            <a:ext cx="27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6" name="Impact 4"/>
          <p:cNvSpPr/>
          <p:nvPr/>
        </p:nvSpPr>
        <p:spPr>
          <a:xfrm>
            <a:off x="3285760" y="4710000"/>
            <a:ext cx="2980000" cy="49000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00" b="1" i="0" dirty="0">
                <a:solidFill>
                  <a:srgbClr val="2E9B5B"/>
                </a:solidFill>
                <a:latin typeface="Arial"/>
                <a:cs typeface="Arial"/>
              </a:rPr>
              <a:t>WITH SAHAKARSETU</a:t>
            </a:r>
          </a:p>
          <a:p>
            <a:pPr algn="ctr">
              <a:spcBef>
                <a:spcPts val="100"/>
              </a:spcBef>
            </a:pP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Verified skill profiles • </a:t>
            </a:r>
            <a:r>
              <a:rPr lang="en-US" sz="850" b="0" i="0" dirty="0" smtClean="0">
                <a:solidFill>
                  <a:srgbClr val="0B2545"/>
                </a:solidFill>
                <a:latin typeface="Arial"/>
                <a:cs typeface="Arial"/>
              </a:rPr>
              <a:t>QR-based verification </a:t>
            </a:r>
            <a:r>
              <a:rPr lang="en-US" sz="850" b="0" i="0" dirty="0">
                <a:solidFill>
                  <a:srgbClr val="0B2545"/>
                </a:solidFill>
                <a:latin typeface="Arial"/>
                <a:cs typeface="Arial"/>
              </a:rPr>
              <a:t>• Skill-fit ranking</a:t>
            </a:r>
          </a:p>
        </p:txBody>
      </p:sp>
      <p:sp>
        <p:nvSpPr>
          <p:cNvPr id="327" name="Benefit Card 1"/>
          <p:cNvSpPr/>
          <p:nvPr/>
        </p:nvSpPr>
        <p:spPr>
          <a:xfrm>
            <a:off x="6555760" y="1570000"/>
            <a:ext cx="5267432" cy="1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8" name="Benefit Tile 1"/>
          <p:cNvSpPr/>
          <p:nvPr/>
        </p:nvSpPr>
        <p:spPr>
          <a:xfrm>
            <a:off x="6625760" y="1640000"/>
            <a:ext cx="1230000" cy="1060000"/>
          </a:xfrm>
          <a:prstGeom prst="roundRect">
            <a:avLst>
              <a:gd name="adj" fmla="val 10000"/>
            </a:avLst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endParaRPr lang="en-US" sz="2400" b="0" i="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00"/>
              </a:spcBef>
            </a:pPr>
            <a:r>
              <a:rPr lang="en-US" sz="950" b="1" i="0" dirty="0">
                <a:solidFill>
                  <a:srgbClr val="FFFFFF"/>
                </a:solidFill>
                <a:latin typeface="Arial"/>
                <a:cs typeface="Arial"/>
              </a:rPr>
              <a:t>SOCIAL</a:t>
            </a:r>
          </a:p>
        </p:txBody>
      </p:sp>
      <p:sp>
        <p:nvSpPr>
          <p:cNvPr id="329" name="Benefit Points 1"/>
          <p:cNvSpPr txBox="1"/>
          <p:nvPr/>
        </p:nvSpPr>
        <p:spPr>
          <a:xfrm>
            <a:off x="7975760" y="1630000"/>
            <a:ext cx="3767432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2E9B5B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Inclusion of women &amp; remote rural youth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2E9B5B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Voice-first multilingual access 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via BHASHINI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 smtClean="0">
                <a:solidFill>
                  <a:srgbClr val="2E9B5B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Near-home training, lower travel burden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2E9B5B"/>
                </a:solidFill>
                <a:latin typeface="Arial"/>
                <a:cs typeface="Arial"/>
              </a:rPr>
              <a:t>• </a:t>
            </a:r>
            <a:r>
              <a:rPr lang="en-US" sz="950" dirty="0" smtClean="0">
                <a:solidFill>
                  <a:srgbClr val="374151"/>
                </a:solidFill>
                <a:latin typeface="Arial"/>
                <a:cs typeface="Arial"/>
              </a:rPr>
              <a:t>Easier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 credential verification for employers</a:t>
            </a:r>
            <a:endParaRPr lang="en-US" sz="950" b="0" i="0" dirty="0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330" name="Benefit Card 2"/>
          <p:cNvSpPr/>
          <p:nvPr/>
        </p:nvSpPr>
        <p:spPr>
          <a:xfrm>
            <a:off x="6555760" y="2820000"/>
            <a:ext cx="5267432" cy="1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31" name="Benefit Tile 2"/>
          <p:cNvSpPr/>
          <p:nvPr/>
        </p:nvSpPr>
        <p:spPr>
          <a:xfrm>
            <a:off x="6625760" y="2890000"/>
            <a:ext cx="1230000" cy="106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endParaRPr lang="en-US" sz="2400" b="0" i="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00"/>
              </a:spcBef>
            </a:pPr>
            <a:r>
              <a:rPr lang="en-US" sz="950" b="1" i="0" dirty="0">
                <a:solidFill>
                  <a:srgbClr val="FFFFFF"/>
                </a:solidFill>
                <a:latin typeface="Arial"/>
                <a:cs typeface="Arial"/>
              </a:rPr>
              <a:t>ECONOMIC</a:t>
            </a:r>
          </a:p>
        </p:txBody>
      </p:sp>
      <p:sp>
        <p:nvSpPr>
          <p:cNvPr id="332" name="Benefit Points 2"/>
          <p:cNvSpPr txBox="1"/>
          <p:nvPr/>
        </p:nvSpPr>
        <p:spPr>
          <a:xfrm>
            <a:off x="7975760" y="2880000"/>
            <a:ext cx="3767432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070C0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Lower admin effort per trainee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0070C0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Training-to-job &amp; entrepreneurship linkage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0070C0"/>
                </a:solidFill>
                <a:latin typeface="Arial"/>
                <a:cs typeface="Arial"/>
              </a:rPr>
              <a:t>• </a:t>
            </a:r>
            <a:r>
              <a:rPr lang="en-US" sz="950" dirty="0" smtClean="0">
                <a:solidFill>
                  <a:srgbClr val="374151"/>
                </a:solidFill>
                <a:latin typeface="Arial"/>
                <a:cs typeface="Arial"/>
              </a:rPr>
              <a:t>Improved pathways to 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earning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opportunities for rural youth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0070C0"/>
                </a:solidFill>
                <a:latin typeface="Arial"/>
                <a:cs typeface="Arial"/>
              </a:rPr>
              <a:t>• </a:t>
            </a:r>
            <a:r>
              <a:rPr lang="en-US" sz="950" dirty="0" smtClean="0">
                <a:solidFill>
                  <a:srgbClr val="374151"/>
                </a:solidFill>
                <a:latin typeface="Arial"/>
                <a:cs typeface="Arial"/>
              </a:rPr>
              <a:t>Timely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data for policy &amp; programme planning</a:t>
            </a:r>
          </a:p>
        </p:txBody>
      </p:sp>
      <p:sp>
        <p:nvSpPr>
          <p:cNvPr id="333" name="Benefit Card 3"/>
          <p:cNvSpPr/>
          <p:nvPr/>
        </p:nvSpPr>
        <p:spPr>
          <a:xfrm>
            <a:off x="6555760" y="4070000"/>
            <a:ext cx="5267432" cy="1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34" name="Benefit Tile 3"/>
          <p:cNvSpPr/>
          <p:nvPr/>
        </p:nvSpPr>
        <p:spPr>
          <a:xfrm>
            <a:off x="6625760" y="4140000"/>
            <a:ext cx="1230000" cy="1060000"/>
          </a:xfrm>
          <a:prstGeom prst="roundRect">
            <a:avLst>
              <a:gd name="adj" fmla="val 10000"/>
            </a:avLst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endParaRPr lang="en-US" sz="2400" b="0" i="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spcBef>
                <a:spcPts val="300"/>
              </a:spcBef>
            </a:pPr>
            <a:r>
              <a:rPr lang="en-US" sz="950" b="1" i="0" dirty="0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</a:p>
        </p:txBody>
      </p:sp>
      <p:sp>
        <p:nvSpPr>
          <p:cNvPr id="335" name="Benefit Points 3"/>
          <p:cNvSpPr txBox="1"/>
          <p:nvPr/>
        </p:nvSpPr>
        <p:spPr>
          <a:xfrm>
            <a:off x="7975760" y="4130000"/>
            <a:ext cx="3767432" cy="10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F28C1F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Paperless registers &amp; certificates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F28C1F"/>
                </a:solidFill>
                <a:latin typeface="Arial"/>
                <a:cs typeface="Arial"/>
              </a:rPr>
              <a:t>•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Fewer travel-related emissions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F28C1F"/>
                </a:solidFill>
                <a:latin typeface="Arial"/>
                <a:cs typeface="Arial"/>
              </a:rPr>
              <a:t>• </a:t>
            </a:r>
            <a:r>
              <a:rPr lang="en-US" sz="950" dirty="0">
                <a:solidFill>
                  <a:srgbClr val="374151"/>
                </a:solidFill>
                <a:latin typeface="Arial"/>
                <a:cs typeface="Arial"/>
              </a:rPr>
              <a:t>L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ow-power </a:t>
            </a:r>
            <a:r>
              <a:rPr lang="en-US" sz="950" b="0" i="0" dirty="0">
                <a:solidFill>
                  <a:srgbClr val="374151"/>
                </a:solidFill>
                <a:latin typeface="Arial"/>
                <a:cs typeface="Arial"/>
              </a:rPr>
              <a:t>Edge Box</a:t>
            </a:r>
          </a:p>
          <a:p>
            <a:pPr algn="l">
              <a:spcBef>
                <a:spcPts val="350"/>
              </a:spcBef>
            </a:pPr>
            <a:r>
              <a:rPr lang="en-US" sz="950" b="1" i="0" dirty="0">
                <a:solidFill>
                  <a:srgbClr val="F28C1F"/>
                </a:solidFill>
                <a:latin typeface="Arial"/>
                <a:cs typeface="Arial"/>
              </a:rPr>
              <a:t>• </a:t>
            </a:r>
            <a:r>
              <a:rPr lang="en-US" sz="950" b="0" i="0" dirty="0" smtClean="0">
                <a:solidFill>
                  <a:srgbClr val="374151"/>
                </a:solidFill>
                <a:latin typeface="Arial"/>
                <a:cs typeface="Arial"/>
              </a:rPr>
              <a:t>API-ready integration with National Cooperative Database</a:t>
            </a:r>
            <a:endParaRPr lang="en-US" sz="950" b="0" i="0" dirty="0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336" name="KPI Header"/>
          <p:cNvSpPr/>
          <p:nvPr/>
        </p:nvSpPr>
        <p:spPr>
          <a:xfrm>
            <a:off x="365760" y="5350000"/>
            <a:ext cx="11457432" cy="240000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Expected outcomes </a:t>
            </a:r>
            <a:r>
              <a:rPr lang="en-US" sz="1000" b="1" i="0" dirty="0" smtClean="0">
                <a:solidFill>
                  <a:srgbClr val="FFFFFF"/>
                </a:solidFill>
                <a:latin typeface="Arial"/>
                <a:cs typeface="Arial"/>
              </a:rPr>
              <a:t>– to be validated </a:t>
            </a:r>
            <a:r>
              <a:rPr lang="en-US" sz="1000" b="1" i="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lang="en-US" sz="1000" b="1" i="0" dirty="0" smtClean="0">
                <a:solidFill>
                  <a:srgbClr val="FFFFFF"/>
                </a:solidFill>
                <a:latin typeface="Arial"/>
                <a:cs typeface="Arial"/>
              </a:rPr>
              <a:t>pilot</a:t>
            </a:r>
            <a:endParaRPr lang="en-US" sz="10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37" name="KPI Chip 1"/>
          <p:cNvSpPr/>
          <p:nvPr/>
        </p:nvSpPr>
        <p:spPr>
          <a:xfrm>
            <a:off x="365760" y="5650000"/>
            <a:ext cx="2774358" cy="56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050" b="1" i="0" dirty="0">
                <a:solidFill>
                  <a:srgbClr val="0070C0"/>
                </a:solidFill>
                <a:latin typeface="Arial"/>
                <a:cs typeface="Arial"/>
              </a:rPr>
              <a:t>↓  Manual admin turnaround</a:t>
            </a:r>
          </a:p>
          <a:p>
            <a:pPr algn="ctr">
              <a:spcBef>
                <a:spcPts val="150"/>
              </a:spcBef>
            </a:pPr>
            <a:r>
              <a:rPr lang="en-US" sz="850" b="0" i="0" dirty="0">
                <a:solidFill>
                  <a:srgbClr val="555F6B"/>
                </a:solidFill>
                <a:latin typeface="Arial"/>
                <a:cs typeface="Arial"/>
              </a:rPr>
              <a:t>Paperless, automated workflows</a:t>
            </a:r>
          </a:p>
        </p:txBody>
      </p:sp>
      <p:sp>
        <p:nvSpPr>
          <p:cNvPr id="338" name="KPI Chip 2"/>
          <p:cNvSpPr/>
          <p:nvPr/>
        </p:nvSpPr>
        <p:spPr>
          <a:xfrm>
            <a:off x="3260118" y="5650000"/>
            <a:ext cx="2774358" cy="56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050" b="1" i="0" dirty="0">
                <a:solidFill>
                  <a:srgbClr val="0070C0"/>
                </a:solidFill>
                <a:latin typeface="Arial"/>
                <a:cs typeface="Arial"/>
              </a:rPr>
              <a:t>↑  Offline learning </a:t>
            </a:r>
            <a:r>
              <a:rPr lang="en-US" sz="1050" b="1" i="0" dirty="0" smtClean="0">
                <a:solidFill>
                  <a:srgbClr val="0070C0"/>
                </a:solidFill>
                <a:latin typeface="Arial"/>
                <a:cs typeface="Arial"/>
              </a:rPr>
              <a:t>access</a:t>
            </a:r>
          </a:p>
          <a:p>
            <a:pPr algn="ctr">
              <a:spcBef>
                <a:spcPts val="150"/>
              </a:spcBef>
            </a:pPr>
            <a:r>
              <a:rPr lang="en-US" sz="850" dirty="0" smtClean="0">
                <a:solidFill>
                  <a:srgbClr val="555F6B"/>
                </a:solidFill>
                <a:latin typeface="Arial"/>
                <a:cs typeface="Arial"/>
              </a:rPr>
              <a:t>Offline access + queued sync when connected</a:t>
            </a:r>
            <a:endParaRPr lang="en-US" sz="850" b="0" i="0" dirty="0">
              <a:solidFill>
                <a:srgbClr val="555F6B"/>
              </a:solidFill>
              <a:latin typeface="Arial"/>
              <a:cs typeface="Arial"/>
            </a:endParaRPr>
          </a:p>
        </p:txBody>
      </p:sp>
      <p:sp>
        <p:nvSpPr>
          <p:cNvPr id="339" name="KPI Chip 3"/>
          <p:cNvSpPr/>
          <p:nvPr/>
        </p:nvSpPr>
        <p:spPr>
          <a:xfrm>
            <a:off x="6154476" y="5650000"/>
            <a:ext cx="2774358" cy="56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050" b="1" i="0" dirty="0">
                <a:solidFill>
                  <a:srgbClr val="0070C0"/>
                </a:solidFill>
                <a:latin typeface="Arial"/>
                <a:cs typeface="Arial"/>
              </a:rPr>
              <a:t>↑  Verifiable skill profiles</a:t>
            </a:r>
          </a:p>
          <a:p>
            <a:pPr algn="ctr">
              <a:spcBef>
                <a:spcPts val="150"/>
              </a:spcBef>
            </a:pPr>
            <a:r>
              <a:rPr lang="en-US" sz="850" b="0" i="0" dirty="0" smtClean="0">
                <a:solidFill>
                  <a:srgbClr val="555F6B"/>
                </a:solidFill>
                <a:latin typeface="Arial"/>
                <a:cs typeface="Arial"/>
              </a:rPr>
              <a:t>QR-based credential </a:t>
            </a:r>
            <a:r>
              <a:rPr lang="en-US" sz="850" b="0" i="0" dirty="0">
                <a:solidFill>
                  <a:srgbClr val="555F6B"/>
                </a:solidFill>
                <a:latin typeface="Arial"/>
                <a:cs typeface="Arial"/>
              </a:rPr>
              <a:t>check</a:t>
            </a:r>
          </a:p>
        </p:txBody>
      </p:sp>
      <p:sp>
        <p:nvSpPr>
          <p:cNvPr id="340" name="KPI Chip 4"/>
          <p:cNvSpPr/>
          <p:nvPr/>
        </p:nvSpPr>
        <p:spPr>
          <a:xfrm>
            <a:off x="9048834" y="5650000"/>
            <a:ext cx="2774358" cy="56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050" b="1" i="0" dirty="0">
                <a:solidFill>
                  <a:srgbClr val="0070C0"/>
                </a:solidFill>
                <a:latin typeface="Arial"/>
                <a:cs typeface="Arial"/>
              </a:rPr>
              <a:t>↑  Training-to-job matching</a:t>
            </a:r>
          </a:p>
          <a:p>
            <a:pPr algn="ctr">
              <a:spcBef>
                <a:spcPts val="150"/>
              </a:spcBef>
            </a:pPr>
            <a:r>
              <a:rPr lang="en-US" sz="850" b="0" i="0" dirty="0">
                <a:solidFill>
                  <a:srgbClr val="555F6B"/>
                </a:solidFill>
                <a:latin typeface="Arial"/>
                <a:cs typeface="Arial"/>
              </a:rPr>
              <a:t>Skill-based opportunity ranking</a:t>
            </a:r>
          </a:p>
        </p:txBody>
      </p:sp>
      <p:pic>
        <p:nvPicPr>
          <p:cNvPr id="50" name="Benefit Icon 1" descr="Benefit 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60" y="1830000"/>
            <a:ext cx="500000" cy="500000"/>
          </a:xfrm>
          <a:prstGeom prst="rect">
            <a:avLst/>
          </a:prstGeom>
        </p:spPr>
      </p:pic>
      <p:pic>
        <p:nvPicPr>
          <p:cNvPr id="51" name="Benefit Icon 2" descr="Benefit 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270" y="3006647"/>
            <a:ext cx="500000" cy="500000"/>
          </a:xfrm>
          <a:prstGeom prst="rect">
            <a:avLst/>
          </a:prstGeom>
        </p:spPr>
      </p:pic>
      <p:pic>
        <p:nvPicPr>
          <p:cNvPr id="52" name="Benefit Icon 3" descr="Benefit 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4270" y="4290000"/>
            <a:ext cx="500000" cy="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31720" y="1500"/>
            <a:ext cx="7358000" cy="106233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65759" y="129000"/>
            <a:ext cx="203349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Code2Scale</a:t>
            </a:r>
          </a:p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670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 sz="1000" dirty="0"/>
          </a:p>
          <a:p>
            <a:pPr lvl="0"/>
            <a:fld id="{677C3CE7-23F7-4828-823C-E0205DF2CF97}" type="slidenum">
              <a:rPr lang="en-US" b="1" smtClean="0">
                <a:solidFill>
                  <a:prstClr val="white"/>
                </a:solidFill>
                <a:latin typeface="Arial"/>
                <a:ea typeface="Arial"/>
                <a:cs typeface="Arial"/>
              </a:rPr>
              <a:pPr lvl="0"/>
              <a:t>6</a:t>
            </a:fld>
            <a:endParaRPr lang="en-US" b="1" dirty="0">
              <a:solidFill>
                <a:prstClr val="white"/>
              </a:solidFill>
              <a:latin typeface="Arial"/>
              <a:ea typeface="Arial"/>
              <a:cs typeface="Arial"/>
            </a:endParaRPr>
          </a:p>
          <a:p>
            <a:pPr algn="r"/>
            <a:endParaRPr sz="1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pic>
        <p:nvPicPr>
          <p:cNvPr id="301" name="Picture SI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2" name="Column Header 1"/>
          <p:cNvSpPr/>
          <p:nvPr/>
        </p:nvSpPr>
        <p:spPr>
          <a:xfrm>
            <a:off x="365760" y="1188720"/>
            <a:ext cx="3719144" cy="310896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 smtClean="0">
                <a:solidFill>
                  <a:srgbClr val="FFFFFF"/>
                </a:solidFill>
                <a:latin typeface="Arial"/>
                <a:cs typeface="Arial"/>
              </a:rPr>
              <a:t>DOMAIN </a:t>
            </a: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&amp; GOVERNMENT</a:t>
            </a:r>
          </a:p>
        </p:txBody>
      </p:sp>
      <p:sp>
        <p:nvSpPr>
          <p:cNvPr id="303" name="Reference Card 1.1"/>
          <p:cNvSpPr/>
          <p:nvPr/>
        </p:nvSpPr>
        <p:spPr>
          <a:xfrm>
            <a:off x="365760" y="157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04" name="Reference Title 1.1"/>
          <p:cNvSpPr txBox="1"/>
          <p:nvPr/>
        </p:nvSpPr>
        <p:spPr>
          <a:xfrm>
            <a:off x="455760" y="162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NCCT — Ministry of Cooperation</a:t>
            </a:r>
          </a:p>
        </p:txBody>
      </p:sp>
      <p:sp>
        <p:nvSpPr>
          <p:cNvPr id="305" name="Reference Link 1.1"/>
          <p:cNvSpPr txBox="1"/>
          <p:nvPr/>
        </p:nvSpPr>
        <p:spPr>
          <a:xfrm>
            <a:off x="2524904" y="1614400"/>
            <a:ext cx="151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4"/>
              </a:rPr>
              <a:t>🔗 </a:t>
            </a:r>
            <a:r>
              <a:rPr lang="en-US" sz="800" b="1" i="0" u="sng" dirty="0" smtClean="0">
                <a:solidFill>
                  <a:srgbClr val="0066CC"/>
                </a:solidFill>
                <a:latin typeface="Arial"/>
                <a:cs typeface="Arial"/>
                <a:hlinkClick r:id="rId4"/>
              </a:rPr>
              <a:t>cooperation.gov.in/en/</a:t>
            </a:r>
            <a:r>
              <a:rPr lang="en-US" sz="800" b="1" i="0" u="sng" dirty="0" err="1" smtClean="0">
                <a:solidFill>
                  <a:srgbClr val="0066CC"/>
                </a:solidFill>
                <a:latin typeface="Arial"/>
                <a:cs typeface="Arial"/>
                <a:hlinkClick r:id="rId4"/>
              </a:rPr>
              <a:t>ncct</a:t>
            </a:r>
            <a:endParaRPr lang="en-US" sz="800" b="1" i="0" u="sng" dirty="0">
              <a:solidFill>
                <a:srgbClr val="0066CC"/>
              </a:solidFill>
              <a:latin typeface="Arial"/>
              <a:cs typeface="Arial"/>
              <a:hlinkClick r:id="rId5"/>
            </a:endParaRPr>
          </a:p>
        </p:txBody>
      </p:sp>
      <p:sp>
        <p:nvSpPr>
          <p:cNvPr id="306" name="Reference Note 1.1"/>
          <p:cNvSpPr txBox="1"/>
          <p:nvPr/>
        </p:nvSpPr>
        <p:spPr>
          <a:xfrm>
            <a:off x="455760" y="1835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Training ecosystem, institute network and cooperative-sector context</a:t>
            </a:r>
          </a:p>
        </p:txBody>
      </p:sp>
      <p:sp>
        <p:nvSpPr>
          <p:cNvPr id="307" name="Reference Card 1.2"/>
          <p:cNvSpPr/>
          <p:nvPr/>
        </p:nvSpPr>
        <p:spPr>
          <a:xfrm>
            <a:off x="365760" y="223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08" name="Reference Title 1.2"/>
          <p:cNvSpPr txBox="1"/>
          <p:nvPr/>
        </p:nvSpPr>
        <p:spPr>
          <a:xfrm>
            <a:off x="455760" y="228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National Cooperation Policy 2025</a:t>
            </a:r>
          </a:p>
        </p:txBody>
      </p:sp>
      <p:sp>
        <p:nvSpPr>
          <p:cNvPr id="309" name="Reference Link 1.2"/>
          <p:cNvSpPr txBox="1"/>
          <p:nvPr/>
        </p:nvSpPr>
        <p:spPr>
          <a:xfrm>
            <a:off x="2634904" y="228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6"/>
              </a:rPr>
              <a:t>🔗 pib.gov.in</a:t>
            </a:r>
          </a:p>
        </p:txBody>
      </p:sp>
      <p:sp>
        <p:nvSpPr>
          <p:cNvPr id="310" name="Reference Note 1.2"/>
          <p:cNvSpPr txBox="1"/>
          <p:nvPr/>
        </p:nvSpPr>
        <p:spPr>
          <a:xfrm>
            <a:off x="455760" y="250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Sector scale (8.44L+ coops, 30+ Cr members) and digitalization priorities</a:t>
            </a:r>
          </a:p>
        </p:txBody>
      </p:sp>
      <p:sp>
        <p:nvSpPr>
          <p:cNvPr id="311" name="Reference Card 1.3"/>
          <p:cNvSpPr/>
          <p:nvPr/>
        </p:nvSpPr>
        <p:spPr>
          <a:xfrm>
            <a:off x="365760" y="290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2" name="Reference Title 1.3"/>
          <p:cNvSpPr txBox="1"/>
          <p:nvPr/>
        </p:nvSpPr>
        <p:spPr>
          <a:xfrm>
            <a:off x="455760" y="295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National Cooperative Database</a:t>
            </a:r>
          </a:p>
        </p:txBody>
      </p:sp>
      <p:sp>
        <p:nvSpPr>
          <p:cNvPr id="313" name="Reference Link 1.3"/>
          <p:cNvSpPr txBox="1"/>
          <p:nvPr/>
        </p:nvSpPr>
        <p:spPr>
          <a:xfrm>
            <a:off x="2634904" y="2950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7"/>
              </a:rPr>
              <a:t>🔗 </a:t>
            </a:r>
            <a:r>
              <a:rPr lang="en-US" sz="800" b="1" i="0" u="sng" dirty="0" smtClean="0">
                <a:solidFill>
                  <a:srgbClr val="0066CC"/>
                </a:solidFill>
                <a:latin typeface="Arial"/>
                <a:cs typeface="Arial"/>
                <a:hlinkClick r:id="rId7"/>
              </a:rPr>
              <a:t>cooperatives.gov.in</a:t>
            </a:r>
            <a:endParaRPr lang="en-US" sz="800" b="1" i="0" u="sng" dirty="0">
              <a:solidFill>
                <a:srgbClr val="0066CC"/>
              </a:solidFill>
              <a:latin typeface="Arial"/>
              <a:cs typeface="Arial"/>
              <a:hlinkClick r:id="rId5"/>
            </a:endParaRPr>
          </a:p>
        </p:txBody>
      </p:sp>
      <p:sp>
        <p:nvSpPr>
          <p:cNvPr id="314" name="Reference Note 1.3"/>
          <p:cNvSpPr txBox="1"/>
          <p:nvPr/>
        </p:nvSpPr>
        <p:spPr>
          <a:xfrm>
            <a:off x="455760" y="3165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Reference architecture for centralized cooperative data and future API integration</a:t>
            </a:r>
          </a:p>
        </p:txBody>
      </p:sp>
      <p:sp>
        <p:nvSpPr>
          <p:cNvPr id="315" name="Reference Card 1.4"/>
          <p:cNvSpPr/>
          <p:nvPr/>
        </p:nvSpPr>
        <p:spPr>
          <a:xfrm>
            <a:off x="365760" y="356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6" name="Reference Title 1.4"/>
          <p:cNvSpPr txBox="1"/>
          <p:nvPr/>
        </p:nvSpPr>
        <p:spPr>
          <a:xfrm>
            <a:off x="455760" y="361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National Career Service (NCS)</a:t>
            </a:r>
          </a:p>
        </p:txBody>
      </p:sp>
      <p:sp>
        <p:nvSpPr>
          <p:cNvPr id="317" name="Reference Link 1.4"/>
          <p:cNvSpPr txBox="1"/>
          <p:nvPr/>
        </p:nvSpPr>
        <p:spPr>
          <a:xfrm>
            <a:off x="2634904" y="361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8"/>
              </a:rPr>
              <a:t>🔗 ncs.gov.in</a:t>
            </a:r>
          </a:p>
        </p:txBody>
      </p:sp>
      <p:sp>
        <p:nvSpPr>
          <p:cNvPr id="318" name="Reference Note 1.4"/>
          <p:cNvSpPr txBox="1"/>
          <p:nvPr/>
        </p:nvSpPr>
        <p:spPr>
          <a:xfrm>
            <a:off x="455760" y="383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Government employment and career-counsellor ecosystem reference</a:t>
            </a:r>
          </a:p>
        </p:txBody>
      </p:sp>
      <p:sp>
        <p:nvSpPr>
          <p:cNvPr id="319" name="Column Header 2"/>
          <p:cNvSpPr/>
          <p:nvPr/>
        </p:nvSpPr>
        <p:spPr>
          <a:xfrm>
            <a:off x="4234904" y="1188720"/>
            <a:ext cx="3719144" cy="310896"/>
          </a:xfrm>
          <a:prstGeom prst="roundRect">
            <a:avLst>
              <a:gd name="adj" fmla="val 30000"/>
            </a:avLst>
          </a:prstGeom>
          <a:solidFill>
            <a:srgbClr val="2E9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 smtClean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, SKILLS &amp; DATASETS</a:t>
            </a:r>
          </a:p>
        </p:txBody>
      </p:sp>
      <p:sp>
        <p:nvSpPr>
          <p:cNvPr id="320" name="Reference Card 2.1"/>
          <p:cNvSpPr/>
          <p:nvPr/>
        </p:nvSpPr>
        <p:spPr>
          <a:xfrm>
            <a:off x="4234904" y="157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1" name="Reference Title 2.1"/>
          <p:cNvSpPr txBox="1"/>
          <p:nvPr/>
        </p:nvSpPr>
        <p:spPr>
          <a:xfrm>
            <a:off x="4324904" y="162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Role Radar — Job-Profile </a:t>
            </a:r>
            <a:r>
              <a:rPr lang="en-US" sz="950" b="1" i="0" dirty="0" smtClean="0">
                <a:solidFill>
                  <a:srgbClr val="0B2545"/>
                </a:solidFill>
                <a:latin typeface="Arial"/>
                <a:cs typeface="Arial"/>
              </a:rPr>
              <a:t>Matching Dataset</a:t>
            </a:r>
            <a:endParaRPr lang="en-US" sz="950" b="1" i="0" dirty="0">
              <a:solidFill>
                <a:srgbClr val="0B2545"/>
              </a:solidFill>
              <a:latin typeface="Arial"/>
              <a:cs typeface="Arial"/>
            </a:endParaRPr>
          </a:p>
        </p:txBody>
      </p:sp>
      <p:sp>
        <p:nvSpPr>
          <p:cNvPr id="322" name="Reference Link 2.1"/>
          <p:cNvSpPr txBox="1"/>
          <p:nvPr/>
        </p:nvSpPr>
        <p:spPr>
          <a:xfrm>
            <a:off x="6504048" y="1620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9"/>
              </a:rPr>
              <a:t>🔗 huggingface.co</a:t>
            </a:r>
          </a:p>
        </p:txBody>
      </p:sp>
      <p:sp>
        <p:nvSpPr>
          <p:cNvPr id="323" name="Reference Note 2.1"/>
          <p:cNvSpPr txBox="1"/>
          <p:nvPr/>
        </p:nvSpPr>
        <p:spPr>
          <a:xfrm>
            <a:off x="4328372" y="1866647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2,500 Indian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jobs </a:t>
            </a:r>
            <a:r>
              <a:rPr lang="en-IN" sz="800" dirty="0" smtClean="0">
                <a:solidFill>
                  <a:schemeClr val="tx1"/>
                </a:solidFill>
              </a:rPr>
              <a:t>•</a:t>
            </a:r>
            <a:r>
              <a:rPr lang="en-IN" sz="800" dirty="0" smtClean="0"/>
              <a:t>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640 </a:t>
            </a: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candidate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profiles </a:t>
            </a:r>
            <a:r>
              <a:rPr lang="en-IN" sz="800" dirty="0" smtClean="0">
                <a:solidFill>
                  <a:schemeClr val="tx1"/>
                </a:solidFill>
              </a:rPr>
              <a:t>•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22,465 </a:t>
            </a: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labelled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pairs</a:t>
            </a:r>
          </a:p>
          <a:p>
            <a:pPr>
              <a:spcBef>
                <a:spcPts val="0"/>
              </a:spcBef>
            </a:pPr>
            <a:r>
              <a:rPr lang="en-US" sz="800" dirty="0">
                <a:solidFill>
                  <a:srgbClr val="374151"/>
                </a:solidFill>
                <a:latin typeface="Arial"/>
                <a:cs typeface="Arial"/>
              </a:rPr>
              <a:t>P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rototype dataset; includes synthetic profiles and automated labels</a:t>
            </a:r>
            <a:endParaRPr lang="en-US" sz="800" b="0" i="0" dirty="0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324" name="Reference Card 2.2"/>
          <p:cNvSpPr/>
          <p:nvPr/>
        </p:nvSpPr>
        <p:spPr>
          <a:xfrm>
            <a:off x="4234904" y="223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5" name="Reference Title 2.2"/>
          <p:cNvSpPr txBox="1"/>
          <p:nvPr/>
        </p:nvSpPr>
        <p:spPr>
          <a:xfrm>
            <a:off x="4324904" y="228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ESCO v1.2.1 Taxonomy</a:t>
            </a:r>
          </a:p>
        </p:txBody>
      </p:sp>
      <p:sp>
        <p:nvSpPr>
          <p:cNvPr id="326" name="Reference Link 2.2"/>
          <p:cNvSpPr txBox="1"/>
          <p:nvPr/>
        </p:nvSpPr>
        <p:spPr>
          <a:xfrm>
            <a:off x="6504048" y="228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0"/>
              </a:rPr>
              <a:t>🔗 esco.ec.europa.eu</a:t>
            </a:r>
          </a:p>
        </p:txBody>
      </p:sp>
      <p:sp>
        <p:nvSpPr>
          <p:cNvPr id="327" name="Reference Note 2.2"/>
          <p:cNvSpPr txBox="1"/>
          <p:nvPr/>
        </p:nvSpPr>
        <p:spPr>
          <a:xfrm>
            <a:off x="4324904" y="250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Occupation-skill relationships for skill normalization and Skill Graph</a:t>
            </a:r>
          </a:p>
        </p:txBody>
      </p:sp>
      <p:sp>
        <p:nvSpPr>
          <p:cNvPr id="328" name="Reference Card 2.3"/>
          <p:cNvSpPr/>
          <p:nvPr/>
        </p:nvSpPr>
        <p:spPr>
          <a:xfrm>
            <a:off x="4234904" y="290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9" name="Reference Title 2.3"/>
          <p:cNvSpPr txBox="1"/>
          <p:nvPr/>
        </p:nvSpPr>
        <p:spPr>
          <a:xfrm>
            <a:off x="4324904" y="295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O*NET 31.0 Database</a:t>
            </a:r>
          </a:p>
        </p:txBody>
      </p:sp>
      <p:sp>
        <p:nvSpPr>
          <p:cNvPr id="330" name="Reference Link 2.3"/>
          <p:cNvSpPr txBox="1"/>
          <p:nvPr/>
        </p:nvSpPr>
        <p:spPr>
          <a:xfrm>
            <a:off x="6504048" y="2950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1"/>
              </a:rPr>
              <a:t>🔗 onetcenter.org</a:t>
            </a:r>
          </a:p>
        </p:txBody>
      </p:sp>
      <p:sp>
        <p:nvSpPr>
          <p:cNvPr id="331" name="Reference Note 2.3"/>
          <p:cNvSpPr txBox="1"/>
          <p:nvPr/>
        </p:nvSpPr>
        <p:spPr>
          <a:xfrm>
            <a:off x="4324904" y="3165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Occupation, skill categories and software-skills reference data</a:t>
            </a:r>
          </a:p>
        </p:txBody>
      </p:sp>
      <p:sp>
        <p:nvSpPr>
          <p:cNvPr id="332" name="Reference Card 2.4"/>
          <p:cNvSpPr/>
          <p:nvPr/>
        </p:nvSpPr>
        <p:spPr>
          <a:xfrm>
            <a:off x="4234904" y="356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33" name="Reference Title 2.4"/>
          <p:cNvSpPr txBox="1"/>
          <p:nvPr/>
        </p:nvSpPr>
        <p:spPr>
          <a:xfrm>
            <a:off x="4324904" y="361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XGBoost Learning-to-Rank</a:t>
            </a:r>
          </a:p>
        </p:txBody>
      </p:sp>
      <p:sp>
        <p:nvSpPr>
          <p:cNvPr id="334" name="Reference Link 2.4"/>
          <p:cNvSpPr txBox="1"/>
          <p:nvPr/>
        </p:nvSpPr>
        <p:spPr>
          <a:xfrm>
            <a:off x="6504048" y="361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2"/>
              </a:rPr>
              <a:t>🔗 xgboost.readthedocs.io</a:t>
            </a:r>
          </a:p>
        </p:txBody>
      </p:sp>
      <p:sp>
        <p:nvSpPr>
          <p:cNvPr id="335" name="Reference Note 2.4"/>
          <p:cNvSpPr txBox="1"/>
          <p:nvPr/>
        </p:nvSpPr>
        <p:spPr>
          <a:xfrm>
            <a:off x="4324904" y="383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Ranking objective (rank:ndcg / pairwise) for skill-to-job matching</a:t>
            </a:r>
          </a:p>
        </p:txBody>
      </p:sp>
      <p:sp>
        <p:nvSpPr>
          <p:cNvPr id="336" name="Column Header 3"/>
          <p:cNvSpPr/>
          <p:nvPr/>
        </p:nvSpPr>
        <p:spPr>
          <a:xfrm>
            <a:off x="8104048" y="1188720"/>
            <a:ext cx="3719144" cy="310896"/>
          </a:xfrm>
          <a:prstGeom prst="roundRect">
            <a:avLst>
              <a:gd name="adj" fmla="val 30000"/>
            </a:avLst>
          </a:prstGeom>
          <a:solidFill>
            <a:srgbClr val="F2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200" b="1" i="0" dirty="0">
                <a:solidFill>
                  <a:srgbClr val="FFFFFF"/>
                </a:solidFill>
                <a:latin typeface="Arial"/>
                <a:cs typeface="Arial"/>
              </a:rPr>
              <a:t>⚙️ TECHNOLOGY &amp; PRIVACY</a:t>
            </a:r>
          </a:p>
        </p:txBody>
      </p:sp>
      <p:sp>
        <p:nvSpPr>
          <p:cNvPr id="337" name="Reference Card 3.1"/>
          <p:cNvSpPr/>
          <p:nvPr/>
        </p:nvSpPr>
        <p:spPr>
          <a:xfrm>
            <a:off x="8104048" y="157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38" name="Reference Title 3.1"/>
          <p:cNvSpPr txBox="1"/>
          <p:nvPr/>
        </p:nvSpPr>
        <p:spPr>
          <a:xfrm>
            <a:off x="8194048" y="162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Moodle LMS Core</a:t>
            </a:r>
          </a:p>
        </p:txBody>
      </p:sp>
      <p:sp>
        <p:nvSpPr>
          <p:cNvPr id="339" name="Reference Link 3.1"/>
          <p:cNvSpPr txBox="1"/>
          <p:nvPr/>
        </p:nvSpPr>
        <p:spPr>
          <a:xfrm>
            <a:off x="10373192" y="1620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3"/>
              </a:rPr>
              <a:t>🔗 moodle.org</a:t>
            </a:r>
            <a:endParaRPr lang="en-US" sz="800" b="1" i="0" u="sng" dirty="0">
              <a:solidFill>
                <a:srgbClr val="0066CC"/>
              </a:solidFill>
              <a:latin typeface="Arial"/>
              <a:cs typeface="Arial"/>
              <a:hlinkClick r:id="rId14"/>
            </a:endParaRPr>
          </a:p>
        </p:txBody>
      </p:sp>
      <p:sp>
        <p:nvSpPr>
          <p:cNvPr id="340" name="Reference Note 3.1"/>
          <p:cNvSpPr txBox="1"/>
          <p:nvPr/>
        </p:nvSpPr>
        <p:spPr>
          <a:xfrm>
            <a:off x="8194048" y="1835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Proven open-source LMS foundation and modular assessment engine</a:t>
            </a:r>
          </a:p>
        </p:txBody>
      </p:sp>
      <p:sp>
        <p:nvSpPr>
          <p:cNvPr id="341" name="Reference Card 3.2"/>
          <p:cNvSpPr/>
          <p:nvPr/>
        </p:nvSpPr>
        <p:spPr>
          <a:xfrm>
            <a:off x="8104048" y="223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42" name="Reference Title 3.2"/>
          <p:cNvSpPr txBox="1"/>
          <p:nvPr/>
        </p:nvSpPr>
        <p:spPr>
          <a:xfrm>
            <a:off x="8194048" y="228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BHASHINI Speech &amp; Language</a:t>
            </a:r>
          </a:p>
        </p:txBody>
      </p:sp>
      <p:sp>
        <p:nvSpPr>
          <p:cNvPr id="343" name="Reference Link 3.2"/>
          <p:cNvSpPr txBox="1"/>
          <p:nvPr/>
        </p:nvSpPr>
        <p:spPr>
          <a:xfrm>
            <a:off x="10373192" y="228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5"/>
              </a:rPr>
              <a:t>🔗 bhashini.gov.in</a:t>
            </a:r>
          </a:p>
        </p:txBody>
      </p:sp>
      <p:sp>
        <p:nvSpPr>
          <p:cNvPr id="344" name="Reference Note 3.2"/>
          <p:cNvSpPr txBox="1"/>
          <p:nvPr/>
        </p:nvSpPr>
        <p:spPr>
          <a:xfrm>
            <a:off x="8194048" y="250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Government AI language services 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for multilingual voice &amp; translation</a:t>
            </a:r>
            <a:endParaRPr lang="en-US" sz="800" b="0" i="0" dirty="0">
              <a:solidFill>
                <a:srgbClr val="374151"/>
              </a:solidFill>
              <a:latin typeface="Arial"/>
              <a:cs typeface="Arial"/>
            </a:endParaRPr>
          </a:p>
        </p:txBody>
      </p:sp>
      <p:sp>
        <p:nvSpPr>
          <p:cNvPr id="345" name="Reference Card 3.3"/>
          <p:cNvSpPr/>
          <p:nvPr/>
        </p:nvSpPr>
        <p:spPr>
          <a:xfrm>
            <a:off x="8104048" y="2900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46" name="Reference Title 3.3"/>
          <p:cNvSpPr txBox="1"/>
          <p:nvPr/>
        </p:nvSpPr>
        <p:spPr>
          <a:xfrm>
            <a:off x="8194048" y="2950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InsightFace / ArcFace</a:t>
            </a:r>
          </a:p>
        </p:txBody>
      </p:sp>
      <p:sp>
        <p:nvSpPr>
          <p:cNvPr id="347" name="Reference Link 3.3"/>
          <p:cNvSpPr txBox="1"/>
          <p:nvPr/>
        </p:nvSpPr>
        <p:spPr>
          <a:xfrm>
            <a:off x="10373192" y="2950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6"/>
              </a:rPr>
              <a:t>🔗 github.com</a:t>
            </a:r>
          </a:p>
        </p:txBody>
      </p:sp>
      <p:sp>
        <p:nvSpPr>
          <p:cNvPr id="348" name="Reference Note 3.3"/>
          <p:cNvSpPr txBox="1"/>
          <p:nvPr/>
        </p:nvSpPr>
        <p:spPr>
          <a:xfrm>
            <a:off x="8194048" y="3165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b="0" i="0" dirty="0" err="1" smtClean="0">
                <a:solidFill>
                  <a:srgbClr val="374151"/>
                </a:solidFill>
                <a:latin typeface="Arial"/>
                <a:cs typeface="Arial"/>
              </a:rPr>
              <a:t>ArcFace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 face </a:t>
            </a: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recognition </a:t>
            </a:r>
            <a:r>
              <a:rPr lang="en-US" sz="800" dirty="0" smtClean="0">
                <a:solidFill>
                  <a:srgbClr val="374151"/>
                </a:solidFill>
                <a:latin typeface="Arial"/>
                <a:cs typeface="Arial"/>
              </a:rPr>
              <a:t>+ </a:t>
            </a:r>
            <a:r>
              <a:rPr lang="en-US" sz="800" b="0" i="0" dirty="0" err="1" smtClean="0">
                <a:solidFill>
                  <a:srgbClr val="374151"/>
                </a:solidFill>
                <a:latin typeface="Arial"/>
                <a:cs typeface="Arial"/>
              </a:rPr>
              <a:t>liveness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 detection </a:t>
            </a: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for attendance</a:t>
            </a:r>
          </a:p>
        </p:txBody>
      </p:sp>
      <p:sp>
        <p:nvSpPr>
          <p:cNvPr id="349" name="Reference Card 3.4"/>
          <p:cNvSpPr/>
          <p:nvPr/>
        </p:nvSpPr>
        <p:spPr>
          <a:xfrm>
            <a:off x="8104048" y="3565000"/>
            <a:ext cx="3719144" cy="620000"/>
          </a:xfrm>
          <a:prstGeom prst="roundRect">
            <a:avLst>
              <a:gd name="adj" fmla="val 10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50" name="Reference Title 3.4"/>
          <p:cNvSpPr txBox="1"/>
          <p:nvPr/>
        </p:nvSpPr>
        <p:spPr>
          <a:xfrm>
            <a:off x="8194048" y="3615000"/>
            <a:ext cx="2219144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950" b="1" i="0" dirty="0">
                <a:solidFill>
                  <a:srgbClr val="0B2545"/>
                </a:solidFill>
                <a:latin typeface="Arial"/>
                <a:cs typeface="Arial"/>
              </a:rPr>
              <a:t>DPDP Act 2023 &amp; Rules 2025</a:t>
            </a:r>
          </a:p>
        </p:txBody>
      </p:sp>
      <p:sp>
        <p:nvSpPr>
          <p:cNvPr id="351" name="Reference Link 3.4"/>
          <p:cNvSpPr txBox="1"/>
          <p:nvPr/>
        </p:nvSpPr>
        <p:spPr>
          <a:xfrm>
            <a:off x="10373192" y="3615000"/>
            <a:ext cx="1360000" cy="2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800" b="1" i="0" u="sng" dirty="0">
                <a:solidFill>
                  <a:srgbClr val="0066CC"/>
                </a:solidFill>
                <a:latin typeface="Arial"/>
                <a:cs typeface="Arial"/>
                <a:hlinkClick r:id="rId17"/>
              </a:rPr>
              <a:t>🔗 meity.gov.in</a:t>
            </a:r>
          </a:p>
        </p:txBody>
      </p:sp>
      <p:sp>
        <p:nvSpPr>
          <p:cNvPr id="352" name="Reference Note 3.4"/>
          <p:cNvSpPr txBox="1"/>
          <p:nvPr/>
        </p:nvSpPr>
        <p:spPr>
          <a:xfrm>
            <a:off x="8194048" y="3830000"/>
            <a:ext cx="3539144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800" dirty="0" smtClean="0">
                <a:solidFill>
                  <a:srgbClr val="374151"/>
                </a:solidFill>
                <a:latin typeface="Arial"/>
                <a:cs typeface="Arial"/>
              </a:rPr>
              <a:t>P</a:t>
            </a:r>
            <a:r>
              <a:rPr lang="en-US" sz="800" b="0" i="0" dirty="0" smtClean="0">
                <a:solidFill>
                  <a:srgbClr val="374151"/>
                </a:solidFill>
                <a:latin typeface="Arial"/>
                <a:cs typeface="Arial"/>
              </a:rPr>
              <a:t>rivacy &amp; data-protection framework; consent logging and biometric-template </a:t>
            </a:r>
            <a:r>
              <a:rPr lang="en-US" sz="800" b="0" i="0" dirty="0">
                <a:solidFill>
                  <a:srgbClr val="374151"/>
                </a:solidFill>
                <a:latin typeface="Arial"/>
                <a:cs typeface="Arial"/>
              </a:rPr>
              <a:t>security</a:t>
            </a:r>
          </a:p>
        </p:txBody>
      </p:sp>
      <p:sp>
        <p:nvSpPr>
          <p:cNvPr id="353" name="ML Strategy Label"/>
          <p:cNvSpPr/>
          <p:nvPr/>
        </p:nvSpPr>
        <p:spPr>
          <a:xfrm>
            <a:off x="365760" y="4270000"/>
            <a:ext cx="1450000" cy="3300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900" b="1" i="0" dirty="0">
                <a:solidFill>
                  <a:srgbClr val="FFFFFF"/>
                </a:solidFill>
                <a:latin typeface="Arial"/>
                <a:cs typeface="Arial"/>
              </a:rPr>
              <a:t>ML DATA STRATEGY</a:t>
            </a:r>
          </a:p>
        </p:txBody>
      </p:sp>
      <p:sp>
        <p:nvSpPr>
          <p:cNvPr id="354" name="ML Step 1"/>
          <p:cNvSpPr/>
          <p:nvPr/>
        </p:nvSpPr>
        <p:spPr>
          <a:xfrm>
            <a:off x="1895760" y="4270000"/>
            <a:ext cx="2294358" cy="33000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900" b="1" i="0" dirty="0">
                <a:solidFill>
                  <a:srgbClr val="0070C0"/>
                </a:solidFill>
                <a:latin typeface="Arial"/>
                <a:cs typeface="Arial"/>
              </a:rPr>
              <a:t>ESCO Taxonomy</a:t>
            </a:r>
          </a:p>
        </p:txBody>
      </p:sp>
      <p:sp>
        <p:nvSpPr>
          <p:cNvPr id="355" name="ML Arrow 1"/>
          <p:cNvSpPr/>
          <p:nvPr/>
        </p:nvSpPr>
        <p:spPr>
          <a:xfrm>
            <a:off x="4225118" y="4330000"/>
            <a:ext cx="18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56" name="ML Step 2"/>
          <p:cNvSpPr/>
          <p:nvPr/>
        </p:nvSpPr>
        <p:spPr>
          <a:xfrm>
            <a:off x="4440118" y="4270000"/>
            <a:ext cx="2294358" cy="33000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900" b="1" i="0" dirty="0">
                <a:solidFill>
                  <a:srgbClr val="0070C0"/>
                </a:solidFill>
                <a:latin typeface="Arial"/>
                <a:cs typeface="Arial"/>
              </a:rPr>
              <a:t>Cooperative Skill Graph</a:t>
            </a:r>
          </a:p>
        </p:txBody>
      </p:sp>
      <p:sp>
        <p:nvSpPr>
          <p:cNvPr id="357" name="ML Arrow 2"/>
          <p:cNvSpPr/>
          <p:nvPr/>
        </p:nvSpPr>
        <p:spPr>
          <a:xfrm>
            <a:off x="6769476" y="4330000"/>
            <a:ext cx="18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58" name="ML Step 3"/>
          <p:cNvSpPr/>
          <p:nvPr/>
        </p:nvSpPr>
        <p:spPr>
          <a:xfrm>
            <a:off x="6984476" y="4270000"/>
            <a:ext cx="2294358" cy="33000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900" b="1" i="0" dirty="0">
                <a:solidFill>
                  <a:srgbClr val="0070C0"/>
                </a:solidFill>
                <a:latin typeface="Arial"/>
                <a:cs typeface="Arial"/>
              </a:rPr>
              <a:t>Pilot Interaction Data (consented)</a:t>
            </a:r>
          </a:p>
        </p:txBody>
      </p:sp>
      <p:sp>
        <p:nvSpPr>
          <p:cNvPr id="359" name="ML Arrow 3"/>
          <p:cNvSpPr/>
          <p:nvPr/>
        </p:nvSpPr>
        <p:spPr>
          <a:xfrm>
            <a:off x="9313834" y="4330000"/>
            <a:ext cx="180000" cy="2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60" name="ML Step 4"/>
          <p:cNvSpPr/>
          <p:nvPr/>
        </p:nvSpPr>
        <p:spPr>
          <a:xfrm>
            <a:off x="9528834" y="4270000"/>
            <a:ext cx="2294358" cy="330000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900" b="1" i="0" dirty="0">
                <a:solidFill>
                  <a:srgbClr val="0070C0"/>
                </a:solidFill>
                <a:latin typeface="Arial"/>
                <a:cs typeface="Arial"/>
              </a:rPr>
              <a:t>XGBoost Ranker (rank:ndcg)</a:t>
            </a:r>
          </a:p>
        </p:txBody>
      </p:sp>
      <p:sp>
        <p:nvSpPr>
          <p:cNvPr id="361" name="Evidence Base"/>
          <p:cNvSpPr txBox="1"/>
          <p:nvPr/>
        </p:nvSpPr>
        <p:spPr>
          <a:xfrm>
            <a:off x="365760" y="4660000"/>
            <a:ext cx="11457432" cy="3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000" b="1" i="0" dirty="0">
                <a:solidFill>
                  <a:srgbClr val="2E9B5B"/>
                </a:solidFill>
                <a:latin typeface="Arial"/>
                <a:cs typeface="Arial"/>
              </a:rPr>
              <a:t>Evidence Base: </a:t>
            </a:r>
            <a:r>
              <a:rPr lang="en-US" sz="1000" b="0" i="1" dirty="0">
                <a:solidFill>
                  <a:srgbClr val="374151"/>
                </a:solidFill>
                <a:latin typeface="Arial"/>
                <a:cs typeface="Arial"/>
              </a:rPr>
              <a:t>NCCT operates 20 institutes and reported 3,759 training programmes covering 2,27,177 participants in FY 2023–24. Public datasets bootstrap the prototype; </a:t>
            </a:r>
            <a:r>
              <a:rPr lang="en-US" sz="1000" b="0" i="1" dirty="0" smtClean="0">
                <a:solidFill>
                  <a:srgbClr val="374151"/>
                </a:solidFill>
                <a:latin typeface="Arial"/>
                <a:cs typeface="Arial"/>
              </a:rPr>
              <a:t>future deployment can incorporate </a:t>
            </a:r>
            <a:r>
              <a:rPr lang="en-US" sz="1000" b="0" i="1" dirty="0">
                <a:solidFill>
                  <a:srgbClr val="374151"/>
                </a:solidFill>
                <a:latin typeface="Arial"/>
                <a:cs typeface="Arial"/>
              </a:rPr>
              <a:t>consented </a:t>
            </a:r>
            <a:r>
              <a:rPr lang="en-US" sz="1000" b="0" i="1" dirty="0" err="1">
                <a:solidFill>
                  <a:srgbClr val="374151"/>
                </a:solidFill>
                <a:latin typeface="Arial"/>
                <a:cs typeface="Arial"/>
              </a:rPr>
              <a:t>SahakarSetu</a:t>
            </a:r>
            <a:r>
              <a:rPr lang="en-US" sz="1000" b="0" i="1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lang="en-US" sz="1000" b="0" i="1" dirty="0" smtClean="0">
                <a:solidFill>
                  <a:srgbClr val="374151"/>
                </a:solidFill>
                <a:latin typeface="Arial"/>
                <a:cs typeface="Arial"/>
              </a:rPr>
              <a:t>interaction and outcome </a:t>
            </a:r>
            <a:r>
              <a:rPr lang="en-US" sz="1000" b="0" i="1" dirty="0">
                <a:solidFill>
                  <a:srgbClr val="374151"/>
                </a:solidFill>
                <a:latin typeface="Arial"/>
                <a:cs typeface="Arial"/>
              </a:rPr>
              <a:t>data.</a:t>
            </a:r>
          </a:p>
        </p:txBody>
      </p:sp>
      <p:pic>
        <p:nvPicPr>
          <p:cNvPr id="69" name="Column Icon 1" descr="Column Icon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760" y="1215000"/>
            <a:ext cx="230000" cy="230000"/>
          </a:xfrm>
          <a:prstGeom prst="rect">
            <a:avLst/>
          </a:prstGeom>
        </p:spPr>
      </p:pic>
      <p:pic>
        <p:nvPicPr>
          <p:cNvPr id="70" name="Column Icon 2" descr="Column Icon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25118" y="1229168"/>
            <a:ext cx="230000" cy="230000"/>
          </a:xfrm>
          <a:prstGeom prst="rect">
            <a:avLst/>
          </a:prstGeom>
        </p:spPr>
      </p:pic>
      <p:pic>
        <p:nvPicPr>
          <p:cNvPr id="71" name="Column Icon 3" descr="Column Icon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94048" y="1236900"/>
            <a:ext cx="230000" cy="230000"/>
          </a:xfrm>
          <a:prstGeom prst="rect">
            <a:avLst/>
          </a:prstGeom>
        </p:spPr>
      </p:pic>
      <p:sp>
        <p:nvSpPr>
          <p:cNvPr id="72" name="Working Prototype Button">
            <a:hlinkClick r:id="rId21" tooltip="Open the live SahakarSetu working prototype"/>
          </p:cNvPr>
          <p:cNvSpPr/>
          <p:nvPr/>
        </p:nvSpPr>
        <p:spPr>
          <a:xfrm>
            <a:off x="4234904" y="5506323"/>
            <a:ext cx="3580000" cy="40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9500"/>
              </a:gs>
              <a:gs pos="100000">
                <a:srgbClr val="E52E00"/>
              </a:gs>
            </a:gsLst>
            <a:lin ang="0" scaled="0"/>
          </a:gradFill>
          <a:ln w="31750">
            <a:solidFill>
              <a:srgbClr val="FFFFFF"/>
            </a:solidFill>
          </a:ln>
          <a:effectLst>
            <a:glow rad="127000">
              <a:srgbClr val="FF7A00">
                <a:alpha val="55000"/>
              </a:srgbClr>
            </a:glow>
            <a:outerShdw blurRad="76200" dist="38100" dir="5400000" algn="t" rotWithShape="0">
              <a:srgbClr val="000000">
                <a:alpha val="35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78000" tIns="0" rIns="936000" bIns="0" rtlCol="0" anchor="ctr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LIVE WORKING PROTOTYPE</a:t>
            </a:r>
          </a:p>
          <a:p>
            <a:pPr algn="l"/>
            <a:r>
              <a:rPr lang="en-US" sz="780" b="0" dirty="0">
                <a:solidFill>
                  <a:srgbClr val="FFF4E0"/>
                </a:solidFill>
                <a:latin typeface="Arial"/>
                <a:cs typeface="Arial"/>
              </a:rPr>
              <a:t>Try the deployed </a:t>
            </a:r>
            <a:r>
              <a:rPr lang="en-US" sz="780" b="0" dirty="0" err="1">
                <a:solidFill>
                  <a:srgbClr val="FFF4E0"/>
                </a:solidFill>
                <a:latin typeface="Arial"/>
                <a:cs typeface="Arial"/>
              </a:rPr>
              <a:t>SahakarSetu</a:t>
            </a:r>
            <a:r>
              <a:rPr lang="en-US" sz="780" b="0" dirty="0">
                <a:solidFill>
                  <a:srgbClr val="FFF4E0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73" name="Working Prototype Button Icon Disc">
            <a:hlinkClick r:id="rId21" tooltip="Open the live SahakarSetu working prototype"/>
          </p:cNvPr>
          <p:cNvSpPr/>
          <p:nvPr/>
        </p:nvSpPr>
        <p:spPr>
          <a:xfrm>
            <a:off x="4312236" y="5550323"/>
            <a:ext cx="312000" cy="31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endParaRPr lang="en-US" sz="800"/>
          </a:p>
        </p:txBody>
      </p:sp>
      <p:pic>
        <p:nvPicPr>
          <p:cNvPr id="74" name="Working Prototype Button Icon" descr="Working Prototype Button icon">
            <a:hlinkClick r:id="rId21" tooltip="Open the live SahakarSetu working prototype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05118" y="5634537"/>
            <a:ext cx="143520" cy="143520"/>
          </a:xfrm>
          <a:prstGeom prst="rect">
            <a:avLst/>
          </a:prstGeom>
        </p:spPr>
      </p:pic>
      <p:sp>
        <p:nvSpPr>
          <p:cNvPr id="75" name="Working Prototype Button Click Tag">
            <a:hlinkClick r:id="rId21" tooltip="Open the live SahakarSetu working prototype"/>
          </p:cNvPr>
          <p:cNvSpPr/>
          <p:nvPr/>
        </p:nvSpPr>
        <p:spPr>
          <a:xfrm>
            <a:off x="6947409" y="5585163"/>
            <a:ext cx="800000" cy="250000"/>
          </a:xfrm>
          <a:prstGeom prst="roundRect">
            <a:avLst>
              <a:gd name="adj" fmla="val 50000"/>
            </a:avLst>
          </a:prstGeom>
          <a:solidFill>
            <a:srgbClr val="FFD60A"/>
          </a:solidFill>
          <a:ln w="12700">
            <a:solidFill>
              <a:srgbClr val="FFFFFF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0B2545"/>
                </a:solidFill>
                <a:latin typeface="Arial"/>
                <a:cs typeface="Arial"/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Arial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Arial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8011</TotalTime>
  <Words>1203</Words>
  <Application>Microsoft Office PowerPoint</Application>
  <PresentationFormat>Widescreen</PresentationFormat>
  <Paragraphs>266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Times New Roman</vt:lpstr>
      <vt:lpstr>Office Theme</vt:lpstr>
      <vt:lpstr>SMART INDIA HACKATHON 2026</vt:lpstr>
      <vt:lpstr>IDEA TITLE: SAHAKARSETU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Microsoft account</cp:lastModifiedBy>
  <cp:revision>401</cp:revision>
  <dcterms:created xsi:type="dcterms:W3CDTF">2013-12-12T18:46:50Z</dcterms:created>
  <dcterms:modified xsi:type="dcterms:W3CDTF">2026-10-04T17:40:17Z</dcterms:modified>
  <cp:category/>
</cp:coreProperties>
</file>